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2" r:id="rId2"/>
  </p:sldIdLst>
  <p:sldSz cx="43891200" cy="32918400"/>
  <p:notesSz cx="6858000" cy="9144000"/>
  <p:embeddedFontLst>
    <p:embeddedFont>
      <p:font typeface="Roboto Condensed ExtraBold" panose="020B0604020202020204" charset="0"/>
      <p:bold r:id="rId4"/>
      <p:boldItalic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4">
          <p15:clr>
            <a:srgbClr val="747775"/>
          </p15:clr>
        </p15:guide>
        <p15:guide id="2" pos="24336">
          <p15:clr>
            <a:srgbClr val="747775"/>
          </p15:clr>
        </p15:guide>
        <p15:guide id="3" pos="246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CEF3"/>
    <a:srgbClr val="0084C7"/>
    <a:srgbClr val="FDF1D7"/>
    <a:srgbClr val="163567"/>
    <a:srgbClr val="159DDA"/>
    <a:srgbClr val="036D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2" autoAdjust="0"/>
    <p:restoredTop sz="93341" autoAdjust="0"/>
  </p:normalViewPr>
  <p:slideViewPr>
    <p:cSldViewPr snapToGrid="0">
      <p:cViewPr>
        <p:scale>
          <a:sx n="10" d="100"/>
          <a:sy n="10" d="100"/>
        </p:scale>
        <p:origin x="1836" y="528"/>
      </p:cViewPr>
      <p:guideLst>
        <p:guide orient="horz" pos="1224"/>
        <p:guide pos="24336"/>
        <p:guide pos="246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-8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c7d51fe0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38c7d51fe0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Add ChemTreat logo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Instead of clumps use flocs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496160" y="13765440"/>
            <a:ext cx="40899000" cy="53874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23195520" y="7375840"/>
            <a:ext cx="19199400" cy="218649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496160" y="3555840"/>
            <a:ext cx="13478400" cy="483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496160" y="8893440"/>
            <a:ext cx="13478400" cy="203481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marL="914400" lvl="1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marL="1371600" lvl="2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marL="1828800" lvl="3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marL="2286000" lvl="4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marL="2743200" lvl="5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marL="3200400" lvl="6" indent="-6350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marL="3657600" lvl="7" indent="-635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marL="4114800" lvl="8" indent="-6350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2353200" y="2880960"/>
            <a:ext cx="30565500" cy="261810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1945600" y="-800"/>
            <a:ext cx="219456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87600" tIns="487600" rIns="487600" bIns="487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274400" y="7892320"/>
            <a:ext cx="19416900" cy="94866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274400" y="17939680"/>
            <a:ext cx="19416900" cy="79047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23709600" y="4634080"/>
            <a:ext cx="18417600" cy="23648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838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496160" y="27075680"/>
            <a:ext cx="28794300" cy="38727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496160" y="7079200"/>
            <a:ext cx="40899000" cy="12566400"/>
          </a:xfrm>
          <a:prstGeom prst="rect">
            <a:avLst/>
          </a:prstGeom>
        </p:spPr>
        <p:txBody>
          <a:bodyPr spcFirstLastPara="1" wrap="square" lIns="487600" tIns="487600" rIns="487600" bIns="4876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496160" y="20174240"/>
            <a:ext cx="40899000" cy="8325000"/>
          </a:xfrm>
          <a:prstGeom prst="rect">
            <a:avLst/>
          </a:prstGeom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marL="914400" lvl="1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2pPr>
            <a:lvl3pPr marL="1371600" lvl="2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3pPr>
            <a:lvl4pPr marL="1828800" lvl="3" indent="-702733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4pPr>
            <a:lvl5pPr marL="2286000" lvl="4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5pPr>
            <a:lvl6pPr marL="2743200" lvl="5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6pPr>
            <a:lvl7pPr marL="3200400" lvl="6" indent="-702733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6"/>
            </a:lvl7pPr>
            <a:lvl8pPr marL="3657600" lvl="7" indent="-702733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6"/>
            </a:lvl8pPr>
            <a:lvl9pPr marL="4114800" lvl="8" indent="-702733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6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t" anchorCtr="0">
            <a:normAutofit/>
          </a:bodyPr>
          <a:lstStyle>
            <a:lvl1pPr marL="457200" lvl="0" indent="-838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marL="914400" lvl="1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2pPr>
            <a:lvl3pPr marL="1371600" lvl="2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3pPr>
            <a:lvl4pPr marL="1828800" lvl="3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6">
                <a:solidFill>
                  <a:schemeClr val="dk2"/>
                </a:solidFill>
              </a:defRPr>
            </a:lvl4pPr>
            <a:lvl5pPr marL="2286000" lvl="4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5pPr>
            <a:lvl6pPr marL="2743200" lvl="5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6pPr>
            <a:lvl7pPr marL="3200400" lvl="6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6">
                <a:solidFill>
                  <a:schemeClr val="dk2"/>
                </a:solidFill>
              </a:defRPr>
            </a:lvl7pPr>
            <a:lvl8pPr marL="3657600" lvl="7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6">
                <a:solidFill>
                  <a:schemeClr val="dk2"/>
                </a:solidFill>
              </a:defRPr>
            </a:lvl8pPr>
            <a:lvl9pPr marL="4114800" lvl="8" indent="-7027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6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7600" tIns="487600" rIns="487600" bIns="487600" anchor="ctr" anchorCtr="0">
            <a:normAutofit/>
          </a:bodyPr>
          <a:lstStyle>
            <a:lvl1pPr lvl="0" algn="r">
              <a:buNone/>
              <a:defRPr sz="5333">
                <a:solidFill>
                  <a:schemeClr val="dk2"/>
                </a:solidFill>
              </a:defRPr>
            </a:lvl1pPr>
            <a:lvl2pPr lvl="1" algn="r">
              <a:buNone/>
              <a:defRPr sz="5333">
                <a:solidFill>
                  <a:schemeClr val="dk2"/>
                </a:solidFill>
              </a:defRPr>
            </a:lvl2pPr>
            <a:lvl3pPr lvl="2" algn="r">
              <a:buNone/>
              <a:defRPr sz="5333">
                <a:solidFill>
                  <a:schemeClr val="dk2"/>
                </a:solidFill>
              </a:defRPr>
            </a:lvl3pPr>
            <a:lvl4pPr lvl="3" algn="r">
              <a:buNone/>
              <a:defRPr sz="5333">
                <a:solidFill>
                  <a:schemeClr val="dk2"/>
                </a:solidFill>
              </a:defRPr>
            </a:lvl4pPr>
            <a:lvl5pPr lvl="4" algn="r">
              <a:buNone/>
              <a:defRPr sz="5333">
                <a:solidFill>
                  <a:schemeClr val="dk2"/>
                </a:solidFill>
              </a:defRPr>
            </a:lvl5pPr>
            <a:lvl6pPr lvl="5" algn="r">
              <a:buNone/>
              <a:defRPr sz="5333">
                <a:solidFill>
                  <a:schemeClr val="dk2"/>
                </a:solidFill>
              </a:defRPr>
            </a:lvl6pPr>
            <a:lvl7pPr lvl="6" algn="r">
              <a:buNone/>
              <a:defRPr sz="5333">
                <a:solidFill>
                  <a:schemeClr val="dk2"/>
                </a:solidFill>
              </a:defRPr>
            </a:lvl7pPr>
            <a:lvl8pPr lvl="7" algn="r">
              <a:buNone/>
              <a:defRPr sz="5333">
                <a:solidFill>
                  <a:schemeClr val="dk2"/>
                </a:solidFill>
              </a:defRPr>
            </a:lvl8pPr>
            <a:lvl9pPr lvl="8" algn="r">
              <a:buNone/>
              <a:defRPr sz="5333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actat.wvu.edu/files/d/3cf372e5-ba40-450c-a3ad-cd774f4c3345/jar-testing.pdf?utm_source=chatgpt.com" TargetMode="External"/><Relationship Id="rId13" Type="http://schemas.openxmlformats.org/officeDocument/2006/relationships/image" Target="../media/image6.png"/><Relationship Id="rId18" Type="http://schemas.openxmlformats.org/officeDocument/2006/relationships/image" Target="../media/image11.png"/><Relationship Id="rId3" Type="http://schemas.openxmlformats.org/officeDocument/2006/relationships/image" Target="../media/image1.png"/><Relationship Id="rId21" Type="http://schemas.openxmlformats.org/officeDocument/2006/relationships/image" Target="../media/image14.svg"/><Relationship Id="rId7" Type="http://schemas.openxmlformats.org/officeDocument/2006/relationships/hyperlink" Target="https://www.fishersci.com/us/en/scientific-products/publications/lab-reporter/2023/issue-3/the-importance-of-jar-testing-in-water-and-wastewater-analysis.html" TargetMode="External"/><Relationship Id="rId12" Type="http://schemas.openxmlformats.org/officeDocument/2006/relationships/image" Target="../media/image5.png"/><Relationship Id="rId17" Type="http://schemas.openxmlformats.org/officeDocument/2006/relationships/image" Target="../media/image10.png"/><Relationship Id="rId25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.jp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11" Type="http://schemas.openxmlformats.org/officeDocument/2006/relationships/hyperlink" Target="https://link.springer.com/article/10.1007/s11270-023-06605-0" TargetMode="External"/><Relationship Id="rId24" Type="http://schemas.openxmlformats.org/officeDocument/2006/relationships/image" Target="../media/image17.jpe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6.jpeg"/><Relationship Id="rId10" Type="http://schemas.openxmlformats.org/officeDocument/2006/relationships/hyperlink" Target="https://vnk.com.my/product/flocculators-jar-tester/" TargetMode="External"/><Relationship Id="rId19" Type="http://schemas.openxmlformats.org/officeDocument/2006/relationships/image" Target="../media/image12.svg"/><Relationship Id="rId4" Type="http://schemas.openxmlformats.org/officeDocument/2006/relationships/image" Target="../media/image2.png"/><Relationship Id="rId9" Type="http://schemas.openxmlformats.org/officeDocument/2006/relationships/hyperlink" Target="https://actat.wvu.edu/files/d/3cf372e5-ba40-450c-a3ad-cd774f4c3345/jar-testing.pdf" TargetMode="External"/><Relationship Id="rId14" Type="http://schemas.openxmlformats.org/officeDocument/2006/relationships/image" Target="../media/image7.png"/><Relationship Id="rId2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F22FD21-16A4-020C-185B-8FE6DD43B042}"/>
              </a:ext>
            </a:extLst>
          </p:cNvPr>
          <p:cNvGrpSpPr/>
          <p:nvPr/>
        </p:nvGrpSpPr>
        <p:grpSpPr>
          <a:xfrm>
            <a:off x="339068" y="8687903"/>
            <a:ext cx="8875582" cy="4540475"/>
            <a:chOff x="5816598" y="10098517"/>
            <a:chExt cx="7701100" cy="3414136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57172EFF-1CCB-4B6E-5FE4-A104C07CF6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93" r="6357"/>
            <a:stretch>
              <a:fillRect/>
            </a:stretch>
          </p:blipFill>
          <p:spPr bwMode="auto">
            <a:xfrm>
              <a:off x="5816598" y="10102482"/>
              <a:ext cx="7701100" cy="3410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80C78F0-31BF-701E-44EE-033351EA8FC8}"/>
                </a:ext>
              </a:extLst>
            </p:cNvPr>
            <p:cNvSpPr/>
            <p:nvPr/>
          </p:nvSpPr>
          <p:spPr>
            <a:xfrm>
              <a:off x="8382000" y="10098517"/>
              <a:ext cx="5134318" cy="14219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99BB27A-D5FC-A6AE-9991-32C14F2B2AF5}"/>
              </a:ext>
            </a:extLst>
          </p:cNvPr>
          <p:cNvSpPr/>
          <p:nvPr/>
        </p:nvSpPr>
        <p:spPr>
          <a:xfrm>
            <a:off x="8978901" y="10572346"/>
            <a:ext cx="257174" cy="16817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Google Shape;86;p19"/>
          <p:cNvSpPr txBox="1"/>
          <p:nvPr/>
        </p:nvSpPr>
        <p:spPr>
          <a:xfrm>
            <a:off x="39090592" y="884691"/>
            <a:ext cx="4806600" cy="1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0000" dirty="0">
                <a:solidFill>
                  <a:schemeClr val="lt1"/>
                </a:solidFill>
                <a:latin typeface="Roboto Condensed ExtraBold"/>
                <a:ea typeface="Roboto Condensed ExtraBold"/>
                <a:cs typeface="Roboto Condensed ExtraBold"/>
                <a:sym typeface="Roboto Condensed ExtraBold"/>
              </a:rPr>
              <a:t>26-608</a:t>
            </a:r>
            <a:endParaRPr sz="10000" dirty="0">
              <a:solidFill>
                <a:schemeClr val="lt1"/>
              </a:solidFill>
              <a:latin typeface="Roboto Condensed ExtraBold"/>
              <a:ea typeface="Roboto Condensed ExtraBold"/>
              <a:cs typeface="Roboto Condensed ExtraBold"/>
              <a:sym typeface="Roboto Condensed ExtraBold"/>
            </a:endParaRPr>
          </a:p>
        </p:txBody>
      </p:sp>
      <p:sp>
        <p:nvSpPr>
          <p:cNvPr id="3" name="Google Shape;24;g11a88963fa4_0_0">
            <a:extLst>
              <a:ext uri="{FF2B5EF4-FFF2-40B4-BE49-F238E27FC236}">
                <a16:creationId xmlns:a16="http://schemas.microsoft.com/office/drawing/2014/main" id="{0D71B2B5-3601-49FF-9B93-237E8A53C8E5}"/>
              </a:ext>
            </a:extLst>
          </p:cNvPr>
          <p:cNvSpPr txBox="1"/>
          <p:nvPr/>
        </p:nvSpPr>
        <p:spPr>
          <a:xfrm>
            <a:off x="957945" y="3409407"/>
            <a:ext cx="41973135" cy="418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n-US" sz="1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Vision-Based Settling Rate Analysis for Water Treatment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endParaRPr lang="en-US"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SzPts val="3600"/>
            </a:pPr>
            <a:r>
              <a:rPr lang="en-US" sz="3600" b="1" i="0" u="none" strike="noStrike" cap="none" dirty="0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rPr>
              <a:t>Team members: </a:t>
            </a:r>
            <a:r>
              <a:rPr lang="en-US" sz="3600" dirty="0">
                <a:solidFill>
                  <a:srgbClr val="3C3C3B"/>
                </a:solidFill>
              </a:rPr>
              <a:t>Aubrey Carey, Virginia Anderson, Ronald Menendez, Rohan Sharma | </a:t>
            </a:r>
            <a:r>
              <a:rPr lang="en-US" sz="3600" b="1" dirty="0">
                <a:solidFill>
                  <a:srgbClr val="3C3C3B"/>
                </a:solidFill>
              </a:rPr>
              <a:t>Faculty adviser: </a:t>
            </a:r>
            <a:r>
              <a:rPr lang="en-US" sz="3600" dirty="0">
                <a:solidFill>
                  <a:srgbClr val="3C3C3B"/>
                </a:solidFill>
              </a:rPr>
              <a:t>Charles McGill, Ph.D., Bridget McInnes, Ph.D. | </a:t>
            </a:r>
            <a:r>
              <a:rPr lang="en-US" sz="3600" b="1" dirty="0">
                <a:solidFill>
                  <a:srgbClr val="3C3C3B"/>
                </a:solidFill>
              </a:rPr>
              <a:t>Partner: </a:t>
            </a:r>
            <a:r>
              <a:rPr lang="en-US" sz="3600" dirty="0">
                <a:solidFill>
                  <a:srgbClr val="3C3C3B"/>
                </a:solidFill>
              </a:rPr>
              <a:t>ChemTreat | </a:t>
            </a:r>
            <a:r>
              <a:rPr lang="en-US" sz="3600" b="1" dirty="0">
                <a:solidFill>
                  <a:srgbClr val="3C3C3B"/>
                </a:solidFill>
              </a:rPr>
              <a:t>Mentor: </a:t>
            </a:r>
            <a:r>
              <a:rPr lang="en-US" sz="3600" dirty="0">
                <a:solidFill>
                  <a:srgbClr val="3C3C3B"/>
                </a:solidFill>
              </a:rPr>
              <a:t>Vladimir </a:t>
            </a:r>
            <a:r>
              <a:rPr lang="en-US" sz="3600" dirty="0" err="1">
                <a:solidFill>
                  <a:srgbClr val="3C3C3B"/>
                </a:solidFill>
              </a:rPr>
              <a:t>Djukanovic</a:t>
            </a:r>
            <a:endParaRPr lang="en-US" sz="3600" dirty="0">
              <a:solidFill>
                <a:srgbClr val="3C3C3B"/>
              </a:solidFill>
            </a:endParaRPr>
          </a:p>
          <a:p>
            <a:pPr lvl="0">
              <a:buSzPts val="4800"/>
            </a:pPr>
            <a:r>
              <a:rPr lang="en-US" sz="4800" dirty="0">
                <a:solidFill>
                  <a:schemeClr val="dk1"/>
                </a:solidFill>
              </a:rPr>
              <a:t> </a:t>
            </a:r>
            <a:r>
              <a:rPr lang="en-US" sz="4800" b="1" dirty="0">
                <a:solidFill>
                  <a:schemeClr val="dk1"/>
                </a:solidFill>
              </a:rPr>
              <a:t> </a:t>
            </a:r>
            <a:endParaRPr lang="en-US" sz="2400" b="1" dirty="0">
              <a:solidFill>
                <a:schemeClr val="dk1"/>
              </a:solidFill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0C838E-4B3F-7959-6A4D-D9DEC9BE32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3300" y="6153716"/>
            <a:ext cx="13124400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1986E-98DC-FFE3-0DAA-D4EC19FDCDD0}"/>
              </a:ext>
            </a:extLst>
          </p:cNvPr>
          <p:cNvSpPr txBox="1"/>
          <p:nvPr/>
        </p:nvSpPr>
        <p:spPr>
          <a:xfrm>
            <a:off x="1807290" y="6087212"/>
            <a:ext cx="102325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CEA451-02EA-BE0E-8BBE-769D18442C4E}"/>
              </a:ext>
            </a:extLst>
          </p:cNvPr>
          <p:cNvSpPr/>
          <p:nvPr/>
        </p:nvSpPr>
        <p:spPr>
          <a:xfrm>
            <a:off x="361374" y="13197877"/>
            <a:ext cx="13124400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4F81DE-4EEE-E6D0-40AD-CF8D3CB9140E}"/>
              </a:ext>
            </a:extLst>
          </p:cNvPr>
          <p:cNvSpPr txBox="1"/>
          <p:nvPr/>
        </p:nvSpPr>
        <p:spPr>
          <a:xfrm>
            <a:off x="1807290" y="13125278"/>
            <a:ext cx="10232569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Existing Solutions</a:t>
            </a:r>
          </a:p>
        </p:txBody>
      </p:sp>
      <p:grpSp>
        <p:nvGrpSpPr>
          <p:cNvPr id="1289" name="Group 1288">
            <a:extLst>
              <a:ext uri="{FF2B5EF4-FFF2-40B4-BE49-F238E27FC236}">
                <a16:creationId xmlns:a16="http://schemas.microsoft.com/office/drawing/2014/main" id="{601700C1-7E33-0AC0-A718-EA58AA3B7B28}"/>
              </a:ext>
            </a:extLst>
          </p:cNvPr>
          <p:cNvGrpSpPr/>
          <p:nvPr/>
        </p:nvGrpSpPr>
        <p:grpSpPr>
          <a:xfrm>
            <a:off x="539464" y="14108456"/>
            <a:ext cx="12719742" cy="3935571"/>
            <a:chOff x="678217" y="14108456"/>
            <a:chExt cx="12719742" cy="393557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ED93C73-DDC8-75F3-F1FD-C372CF585E9B}"/>
                </a:ext>
              </a:extLst>
            </p:cNvPr>
            <p:cNvSpPr txBox="1"/>
            <p:nvPr/>
          </p:nvSpPr>
          <p:spPr>
            <a:xfrm>
              <a:off x="678217" y="14108456"/>
              <a:ext cx="6236101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00" b="1" dirty="0"/>
                <a:t>Jar Tests </a:t>
              </a:r>
            </a:p>
            <a:p>
              <a:pPr algn="ctr"/>
              <a:r>
                <a:rPr lang="en-US" sz="3500" dirty="0"/>
                <a:t>(Current Industry Standard)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843D08E-D871-146F-DBBF-36A071CF71A7}"/>
                </a:ext>
              </a:extLst>
            </p:cNvPr>
            <p:cNvSpPr txBox="1"/>
            <p:nvPr/>
          </p:nvSpPr>
          <p:spPr>
            <a:xfrm>
              <a:off x="7161858" y="14108456"/>
              <a:ext cx="6236101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500" b="1" dirty="0"/>
                <a:t>Jar Test using ML model</a:t>
              </a:r>
            </a:p>
            <a:p>
              <a:pPr algn="ctr"/>
              <a:r>
                <a:rPr lang="en-US" sz="3500" dirty="0"/>
                <a:t>(Previous Capstone Project)</a:t>
              </a:r>
            </a:p>
          </p:txBody>
        </p:sp>
        <p:pic>
          <p:nvPicPr>
            <p:cNvPr id="22" name="Picture 21" descr="A glass jar in a light box&#10;&#10;AI-generated content may be incorrect.">
              <a:extLst>
                <a:ext uri="{FF2B5EF4-FFF2-40B4-BE49-F238E27FC236}">
                  <a16:creationId xmlns:a16="http://schemas.microsoft.com/office/drawing/2014/main" id="{40AAE620-290A-C1EE-E5BC-474366F62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2532" b="11086"/>
            <a:stretch>
              <a:fillRect/>
            </a:stretch>
          </p:blipFill>
          <p:spPr>
            <a:xfrm>
              <a:off x="8751809" y="15241731"/>
              <a:ext cx="3496327" cy="2802296"/>
            </a:xfrm>
            <a:prstGeom prst="rect">
              <a:avLst/>
            </a:prstGeom>
          </p:spPr>
        </p:pic>
        <p:pic>
          <p:nvPicPr>
            <p:cNvPr id="24" name="Picture 23" descr="A laboratory equipment with blue liquid in beakers&#10;&#10;AI-generated content may be incorrect.">
              <a:extLst>
                <a:ext uri="{FF2B5EF4-FFF2-40B4-BE49-F238E27FC236}">
                  <a16:creationId xmlns:a16="http://schemas.microsoft.com/office/drawing/2014/main" id="{96D83C47-1EC4-90F7-773C-F30347A5A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19098" b="11132"/>
            <a:stretch>
              <a:fillRect/>
            </a:stretch>
          </p:blipFill>
          <p:spPr>
            <a:xfrm>
              <a:off x="1677037" y="15241731"/>
              <a:ext cx="4238460" cy="2762897"/>
            </a:xfrm>
            <a:prstGeom prst="rect">
              <a:avLst/>
            </a:prstGeom>
          </p:spPr>
        </p:pic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27899F98-28B9-3BD6-F674-B979C7F67F00}"/>
              </a:ext>
            </a:extLst>
          </p:cNvPr>
          <p:cNvSpPr/>
          <p:nvPr/>
        </p:nvSpPr>
        <p:spPr>
          <a:xfrm>
            <a:off x="362754" y="22250525"/>
            <a:ext cx="13121640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6061E3-4CD3-1D32-ACB1-24EA9D96814D}"/>
              </a:ext>
            </a:extLst>
          </p:cNvPr>
          <p:cNvSpPr txBox="1"/>
          <p:nvPr/>
        </p:nvSpPr>
        <p:spPr>
          <a:xfrm>
            <a:off x="2691934" y="22206202"/>
            <a:ext cx="8463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Design Specifications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003B0E-49F6-50A6-163B-B4FE770FD99A}"/>
              </a:ext>
            </a:extLst>
          </p:cNvPr>
          <p:cNvSpPr txBox="1"/>
          <p:nvPr/>
        </p:nvSpPr>
        <p:spPr>
          <a:xfrm>
            <a:off x="30444966" y="19225441"/>
            <a:ext cx="13124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After evaluating multiple configurations, the fixed camera with LED back-lighting proved the most effective; offering higher accuracy, portability, and consistent results with relatively simple construction.</a:t>
            </a:r>
          </a:p>
          <a:p>
            <a:r>
              <a:rPr lang="en-US" sz="3600" u="sng" dirty="0"/>
              <a:t>Future work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Conduct jar tests to collect training data for the CNN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Refine lighting and calibration curve to ensure differences between jar positions has minimal impact on testing results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Tune the CNN model for higher prediction accuracy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5DA8EAB-18B6-A695-F1F9-7B7106D37D40}"/>
              </a:ext>
            </a:extLst>
          </p:cNvPr>
          <p:cNvSpPr/>
          <p:nvPr/>
        </p:nvSpPr>
        <p:spPr>
          <a:xfrm>
            <a:off x="30444966" y="10652895"/>
            <a:ext cx="13124400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BC6683-9CAC-5929-379C-1F2EC2D7B6FE}"/>
              </a:ext>
            </a:extLst>
          </p:cNvPr>
          <p:cNvSpPr txBox="1"/>
          <p:nvPr/>
        </p:nvSpPr>
        <p:spPr>
          <a:xfrm>
            <a:off x="31890882" y="10580297"/>
            <a:ext cx="102325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Cost Analysis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47FA62F-438B-7D7A-4D5B-9CD8E3702E10}"/>
              </a:ext>
            </a:extLst>
          </p:cNvPr>
          <p:cNvSpPr/>
          <p:nvPr/>
        </p:nvSpPr>
        <p:spPr>
          <a:xfrm>
            <a:off x="13896149" y="26303542"/>
            <a:ext cx="16232700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130EEE-769F-4FBB-6BC6-4DF1CEC58B73}"/>
              </a:ext>
            </a:extLst>
          </p:cNvPr>
          <p:cNvSpPr txBox="1"/>
          <p:nvPr/>
        </p:nvSpPr>
        <p:spPr>
          <a:xfrm>
            <a:off x="16896215" y="26243441"/>
            <a:ext cx="102325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Design Details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24AC1B3-6895-28D4-321D-4CEAA5E31782}"/>
              </a:ext>
            </a:extLst>
          </p:cNvPr>
          <p:cNvSpPr/>
          <p:nvPr/>
        </p:nvSpPr>
        <p:spPr>
          <a:xfrm>
            <a:off x="13755467" y="17285628"/>
            <a:ext cx="16514064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91E6E1C-FF70-BDB0-F3CD-17EE579C521E}"/>
              </a:ext>
            </a:extLst>
          </p:cNvPr>
          <p:cNvSpPr txBox="1"/>
          <p:nvPr/>
        </p:nvSpPr>
        <p:spPr>
          <a:xfrm>
            <a:off x="16896215" y="17213030"/>
            <a:ext cx="102325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Design Methodology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4F02FD2-551B-87CD-DA9D-1ADF9B394914}"/>
              </a:ext>
            </a:extLst>
          </p:cNvPr>
          <p:cNvSpPr/>
          <p:nvPr/>
        </p:nvSpPr>
        <p:spPr>
          <a:xfrm>
            <a:off x="362754" y="23105636"/>
            <a:ext cx="13121640" cy="1092797"/>
          </a:xfrm>
          <a:prstGeom prst="roundRect">
            <a:avLst/>
          </a:prstGeom>
          <a:solidFill>
            <a:srgbClr val="7FCEF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Improve how settling performance is assessed during jar tests and pilot runs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DC0503F5-4845-EDDD-BB30-0A6FEAAB43F0}"/>
              </a:ext>
            </a:extLst>
          </p:cNvPr>
          <p:cNvSpPr/>
          <p:nvPr/>
        </p:nvSpPr>
        <p:spPr>
          <a:xfrm>
            <a:off x="386646" y="25087753"/>
            <a:ext cx="4297680" cy="42795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" rtlCol="0" anchor="t" anchorCtr="0"/>
          <a:lstStyle/>
          <a:p>
            <a:pPr algn="ctr">
              <a:buClr>
                <a:schemeClr val="bg1"/>
              </a:buClr>
            </a:pPr>
            <a:r>
              <a:rPr lang="en-US" sz="3600" u="sng" dirty="0">
                <a:solidFill>
                  <a:schemeClr val="tx1"/>
                </a:solidFill>
              </a:rPr>
              <a:t>Standardization </a:t>
            </a:r>
          </a:p>
          <a:p>
            <a:pPr algn="ctr">
              <a:buClr>
                <a:schemeClr val="bg1"/>
              </a:buClr>
            </a:pPr>
            <a:r>
              <a:rPr lang="en-US" sz="3600" dirty="0">
                <a:solidFill>
                  <a:schemeClr val="tx1"/>
                </a:solidFill>
              </a:rPr>
              <a:t>Make automated and objective settling measurements in real-time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6A9B3F9-45EF-CA19-4F8B-AFC1E5B5F2D8}"/>
              </a:ext>
            </a:extLst>
          </p:cNvPr>
          <p:cNvSpPr/>
          <p:nvPr/>
        </p:nvSpPr>
        <p:spPr>
          <a:xfrm>
            <a:off x="4774734" y="25087754"/>
            <a:ext cx="4297680" cy="42795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" rtlCol="0" anchor="t" anchorCtr="0"/>
          <a:lstStyle/>
          <a:p>
            <a:pPr algn="ctr"/>
            <a:r>
              <a:rPr lang="en-US" sz="3600" u="sng" dirty="0">
                <a:solidFill>
                  <a:schemeClr val="tx1"/>
                </a:solidFill>
              </a:rPr>
              <a:t>Portability</a:t>
            </a:r>
          </a:p>
          <a:p>
            <a:pPr algn="ctr">
              <a:buClr>
                <a:schemeClr val="bg1"/>
              </a:buClr>
            </a:pPr>
            <a:r>
              <a:rPr lang="en-US" sz="3600" dirty="0">
                <a:solidFill>
                  <a:schemeClr val="tx1"/>
                </a:solidFill>
              </a:rPr>
              <a:t>Develop a portable testing apparatus to be used on a job site for real-time results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0AB6A716-B685-A1DF-FCE7-76B6B84301EC}"/>
              </a:ext>
            </a:extLst>
          </p:cNvPr>
          <p:cNvSpPr/>
          <p:nvPr/>
        </p:nvSpPr>
        <p:spPr>
          <a:xfrm>
            <a:off x="9214650" y="25087754"/>
            <a:ext cx="4301668" cy="42795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" rtlCol="0" anchor="t" anchorCtr="0"/>
          <a:lstStyle/>
          <a:p>
            <a:pPr algn="ctr"/>
            <a:r>
              <a:rPr lang="en-US" sz="3600" u="sng" dirty="0">
                <a:solidFill>
                  <a:schemeClr val="tx1"/>
                </a:solidFill>
              </a:rPr>
              <a:t>Speed &amp; Efficiency</a:t>
            </a:r>
          </a:p>
          <a:p>
            <a:pPr algn="ctr">
              <a:buClr>
                <a:schemeClr val="bg1"/>
              </a:buClr>
            </a:pPr>
            <a:r>
              <a:rPr lang="en-US" sz="3600" dirty="0">
                <a:solidFill>
                  <a:schemeClr val="tx1"/>
                </a:solidFill>
              </a:rPr>
              <a:t>Reduce test time by increasing number of jars that can be run at once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F643853-FA2A-4A85-BA0B-2A2C476B79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437352" y="6153716"/>
            <a:ext cx="13124400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C284FEA-9FFF-7BA0-C930-BAAB477791F3}"/>
              </a:ext>
            </a:extLst>
          </p:cNvPr>
          <p:cNvSpPr txBox="1"/>
          <p:nvPr/>
        </p:nvSpPr>
        <p:spPr>
          <a:xfrm>
            <a:off x="31890882" y="6142399"/>
            <a:ext cx="102325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Design Details/Specifications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32E9783-1F94-C994-2B87-1ECF943F4062}"/>
              </a:ext>
            </a:extLst>
          </p:cNvPr>
          <p:cNvSpPr txBox="1"/>
          <p:nvPr/>
        </p:nvSpPr>
        <p:spPr>
          <a:xfrm>
            <a:off x="30400087" y="7009388"/>
            <a:ext cx="13214159" cy="338265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 algn="ctr" defTabSz="2266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3600" b="1" kern="1200" dirty="0" err="1"/>
              <a:t>Novatech</a:t>
            </a:r>
            <a:r>
              <a:rPr lang="en-US" sz="3600" b="1" kern="1200" dirty="0"/>
              <a:t> AFM-JM-4 apparatus was modified </a:t>
            </a:r>
            <a:r>
              <a:rPr lang="en-US" sz="3600" kern="1200" dirty="0"/>
              <a:t>for this project</a:t>
            </a:r>
          </a:p>
          <a:p>
            <a:pPr lvl="0" algn="ctr">
              <a:defRPr/>
            </a:pPr>
            <a:r>
              <a:rPr lang="en-US" sz="3600" b="1" kern="1200" dirty="0"/>
              <a:t>Phone stand </a:t>
            </a:r>
            <a:r>
              <a:rPr lang="en-US" sz="3600" kern="1200" dirty="0"/>
              <a:t>attached to rig for consistent camera position</a:t>
            </a:r>
          </a:p>
          <a:p>
            <a:pPr lvl="0" algn="ctr">
              <a:defRPr/>
            </a:pPr>
            <a:r>
              <a:rPr lang="en-US" sz="3600" kern="1200" dirty="0"/>
              <a:t>Back stopper was raised to allow </a:t>
            </a:r>
            <a:r>
              <a:rPr lang="en-US" sz="3600" b="1" kern="1200" dirty="0"/>
              <a:t>backlighting</a:t>
            </a:r>
          </a:p>
          <a:p>
            <a:pPr lvl="0" algn="ctr">
              <a:defRPr/>
            </a:pPr>
            <a:r>
              <a:rPr lang="en-US" sz="3600" b="1" kern="1200" dirty="0"/>
              <a:t>Nonslip bottom </a:t>
            </a:r>
            <a:r>
              <a:rPr lang="en-US" sz="3600" kern="1200" dirty="0"/>
              <a:t>added to improve jar stability</a:t>
            </a:r>
          </a:p>
          <a:p>
            <a:pPr algn="ctr">
              <a:defRPr/>
            </a:pPr>
            <a:r>
              <a:rPr lang="en-US" sz="3600" kern="1200" dirty="0"/>
              <a:t>Video captures at </a:t>
            </a:r>
            <a:r>
              <a:rPr lang="en-US" sz="3600" b="1" kern="1200" dirty="0"/>
              <a:t>30 FPS </a:t>
            </a:r>
            <a:r>
              <a:rPr lang="en-US" sz="3600" kern="1200" dirty="0"/>
              <a:t>with </a:t>
            </a:r>
            <a:r>
              <a:rPr lang="en-US" sz="3600" b="1" kern="1200" dirty="0"/>
              <a:t>auto-cropping capabilities</a:t>
            </a:r>
          </a:p>
          <a:p>
            <a:pPr algn="ctr">
              <a:defRPr/>
            </a:pPr>
            <a:r>
              <a:rPr lang="en-US" sz="3600" kern="1200" dirty="0"/>
              <a:t>Overall dimensions were </a:t>
            </a:r>
            <a:r>
              <a:rPr lang="en-US" sz="3600" b="1" kern="1200" dirty="0"/>
              <a:t>23” x 9” x 16.25”</a:t>
            </a:r>
            <a:endParaRPr lang="en-US" sz="3600" kern="12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2BF0E6E-6608-407D-2265-B3AA68B3AEB0}"/>
              </a:ext>
            </a:extLst>
          </p:cNvPr>
          <p:cNvSpPr/>
          <p:nvPr/>
        </p:nvSpPr>
        <p:spPr>
          <a:xfrm>
            <a:off x="30444966" y="18359809"/>
            <a:ext cx="13124400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783099F-EC7A-82F7-5695-1C77EE59E5BB}"/>
              </a:ext>
            </a:extLst>
          </p:cNvPr>
          <p:cNvSpPr txBox="1"/>
          <p:nvPr/>
        </p:nvSpPr>
        <p:spPr>
          <a:xfrm>
            <a:off x="31890882" y="18287210"/>
            <a:ext cx="102325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Design and Future Work</a:t>
            </a:r>
          </a:p>
        </p:txBody>
      </p:sp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F32D76A9-BC3B-1079-CFD3-F74B78F4F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781776"/>
              </p:ext>
            </p:extLst>
          </p:nvPr>
        </p:nvGraphicFramePr>
        <p:xfrm>
          <a:off x="30445655" y="11672150"/>
          <a:ext cx="13123022" cy="6426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4246">
                  <a:extLst>
                    <a:ext uri="{9D8B030D-6E8A-4147-A177-3AD203B41FA5}">
                      <a16:colId xmlns:a16="http://schemas.microsoft.com/office/drawing/2014/main" val="2849330778"/>
                    </a:ext>
                  </a:extLst>
                </a:gridCol>
                <a:gridCol w="4673479">
                  <a:extLst>
                    <a:ext uri="{9D8B030D-6E8A-4147-A177-3AD203B41FA5}">
                      <a16:colId xmlns:a16="http://schemas.microsoft.com/office/drawing/2014/main" val="4269923844"/>
                    </a:ext>
                  </a:extLst>
                </a:gridCol>
                <a:gridCol w="3525297">
                  <a:extLst>
                    <a:ext uri="{9D8B030D-6E8A-4147-A177-3AD203B41FA5}">
                      <a16:colId xmlns:a16="http://schemas.microsoft.com/office/drawing/2014/main" val="2434652821"/>
                    </a:ext>
                  </a:extLst>
                </a:gridCol>
              </a:tblGrid>
              <a:tr h="602951">
                <a:tc gridSpan="2"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Equipment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CE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Price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C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525466"/>
                  </a:ext>
                </a:extLst>
              </a:tr>
              <a:tr h="602951">
                <a:tc gridSpan="2">
                  <a:txBody>
                    <a:bodyPr/>
                    <a:lstStyle/>
                    <a:p>
                      <a:r>
                        <a:rPr lang="en-US" sz="3600" dirty="0"/>
                        <a:t>*Mini-Jar Apparatus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$4800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131842"/>
                  </a:ext>
                </a:extLst>
              </a:tr>
              <a:tr h="602951">
                <a:tc gridSpan="2">
                  <a:txBody>
                    <a:bodyPr/>
                    <a:lstStyle/>
                    <a:p>
                      <a:r>
                        <a:rPr lang="en-US" sz="3600" dirty="0"/>
                        <a:t>Lighting Modifications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$40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822469"/>
                  </a:ext>
                </a:extLst>
              </a:tr>
              <a:tr h="602951">
                <a:tc gridSpan="2">
                  <a:txBody>
                    <a:bodyPr/>
                    <a:lstStyle/>
                    <a:p>
                      <a:r>
                        <a:rPr lang="en-US" sz="3600" dirty="0"/>
                        <a:t>Camera Positioning Control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$30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792087"/>
                  </a:ext>
                </a:extLst>
              </a:tr>
              <a:tr h="602951">
                <a:tc gridSpan="2">
                  <a:txBody>
                    <a:bodyPr/>
                    <a:lstStyle/>
                    <a:p>
                      <a:r>
                        <a:rPr lang="en-US" sz="3600" dirty="0"/>
                        <a:t>Jars best for Model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$25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467776"/>
                  </a:ext>
                </a:extLst>
              </a:tr>
              <a:tr h="602951">
                <a:tc gridSpan="2">
                  <a:txBody>
                    <a:bodyPr/>
                    <a:lstStyle/>
                    <a:p>
                      <a:r>
                        <a:rPr lang="en-US" sz="3600" dirty="0"/>
                        <a:t>Surface Modifications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$25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209391"/>
                  </a:ext>
                </a:extLst>
              </a:tr>
              <a:tr h="602951">
                <a:tc gridSpan="2">
                  <a:txBody>
                    <a:bodyPr/>
                    <a:lstStyle/>
                    <a:p>
                      <a:r>
                        <a:rPr lang="en-US" sz="3600" dirty="0"/>
                        <a:t>Camera to computer (data collection)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$10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236242"/>
                  </a:ext>
                </a:extLst>
              </a:tr>
              <a:tr h="602951">
                <a:tc gridSpan="2">
                  <a:txBody>
                    <a:bodyPr/>
                    <a:lstStyle/>
                    <a:p>
                      <a:r>
                        <a:rPr lang="en-US" sz="3600" dirty="0"/>
                        <a:t>*assumed possession of phone camera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*$700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748328"/>
                  </a:ext>
                </a:extLst>
              </a:tr>
              <a:tr h="656933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Total w/o Apparatus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Total w Apparatus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Total w/ Phone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019548"/>
                  </a:ext>
                </a:extLst>
              </a:tr>
              <a:tr h="64923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$130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600" dirty="0"/>
                        <a:t>$4920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$5620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40043"/>
                  </a:ext>
                </a:extLst>
              </a:tr>
            </a:tbl>
          </a:graphicData>
        </a:graphic>
      </p:graphicFrame>
      <p:sp>
        <p:nvSpPr>
          <p:cNvPr id="1227" name="Freeform: Shape 1226">
            <a:extLst>
              <a:ext uri="{FF2B5EF4-FFF2-40B4-BE49-F238E27FC236}">
                <a16:creationId xmlns:a16="http://schemas.microsoft.com/office/drawing/2014/main" id="{B2D9100E-D8AF-8435-24D7-9791341E2296}"/>
              </a:ext>
            </a:extLst>
          </p:cNvPr>
          <p:cNvSpPr/>
          <p:nvPr/>
        </p:nvSpPr>
        <p:spPr>
          <a:xfrm>
            <a:off x="13975223" y="28799620"/>
            <a:ext cx="16219348" cy="1412893"/>
          </a:xfrm>
          <a:custGeom>
            <a:avLst/>
            <a:gdLst>
              <a:gd name="connsiteX0" fmla="*/ 0 w 16219348"/>
              <a:gd name="connsiteY0" fmla="*/ 0 h 1412893"/>
              <a:gd name="connsiteX1" fmla="*/ 16219348 w 16219348"/>
              <a:gd name="connsiteY1" fmla="*/ 0 h 1412893"/>
              <a:gd name="connsiteX2" fmla="*/ 16219348 w 16219348"/>
              <a:gd name="connsiteY2" fmla="*/ 1412893 h 1412893"/>
              <a:gd name="connsiteX3" fmla="*/ 0 w 16219348"/>
              <a:gd name="connsiteY3" fmla="*/ 1412893 h 1412893"/>
              <a:gd name="connsiteX4" fmla="*/ 0 w 16219348"/>
              <a:gd name="connsiteY4" fmla="*/ 0 h 1412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19348" h="1412893">
                <a:moveTo>
                  <a:pt x="0" y="0"/>
                </a:moveTo>
                <a:lnTo>
                  <a:pt x="16219348" y="0"/>
                </a:lnTo>
                <a:lnTo>
                  <a:pt x="16219348" y="1412893"/>
                </a:lnTo>
                <a:lnTo>
                  <a:pt x="0" y="141289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3825" tIns="123825" rIns="123825" bIns="123825" numCol="1" spcCol="1270" anchor="t" anchorCtr="0">
            <a:noAutofit/>
          </a:bodyPr>
          <a:lstStyle/>
          <a:p>
            <a:pPr marL="285750" lvl="1" indent="-285750" algn="l" defTabSz="2266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en-US" sz="5100" kern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EBAD49-8060-9FFB-F1F6-AC85E1A17DA3}"/>
              </a:ext>
            </a:extLst>
          </p:cNvPr>
          <p:cNvSpPr txBox="1"/>
          <p:nvPr/>
        </p:nvSpPr>
        <p:spPr>
          <a:xfrm>
            <a:off x="3183391" y="9107408"/>
            <a:ext cx="10113340" cy="1756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larger flocs, accelerating their settling and removal. Due to the wide variety of coagulants that are available, tests must be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/>
              <a:t>conducted to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0B165C-D91F-AC19-2E0B-A893F631D7C1}"/>
              </a:ext>
            </a:extLst>
          </p:cNvPr>
          <p:cNvSpPr txBox="1"/>
          <p:nvPr/>
        </p:nvSpPr>
        <p:spPr>
          <a:xfrm>
            <a:off x="361374" y="6964249"/>
            <a:ext cx="13124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Water treatment relies on the effective removal of suspended solids and other </a:t>
            </a:r>
            <a:r>
              <a:rPr lang="en-US" sz="3600" dirty="0">
                <a:latin typeface="Arial (Body)"/>
              </a:rPr>
              <a:t>contaminants</a:t>
            </a:r>
            <a:r>
              <a:rPr lang="en-US" sz="3600" dirty="0"/>
              <a:t> to ensure water quality and safety. The first critical step in water treatment is the addition of coagulants to bind suspended particles in raw water to form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bg1"/>
                </a:solidFill>
              </a:rPr>
              <a:t>conductedddddd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064270-3782-89D8-3268-DAEAF090F1CF}"/>
              </a:ext>
            </a:extLst>
          </p:cNvPr>
          <p:cNvSpPr txBox="1"/>
          <p:nvPr/>
        </p:nvSpPr>
        <p:spPr>
          <a:xfrm>
            <a:off x="9024860" y="10732302"/>
            <a:ext cx="44914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identify the best </a:t>
            </a:r>
            <a:r>
              <a:rPr lang="en-US" sz="3600" dirty="0">
                <a:latin typeface="Arial (Body)"/>
              </a:rPr>
              <a:t>coagulant</a:t>
            </a:r>
            <a:r>
              <a:rPr lang="en-US" sz="3600" dirty="0"/>
              <a:t> for each water treatment process. 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8FB8CB-BAC1-F7FD-BFDE-23D8B8F09D33}"/>
              </a:ext>
            </a:extLst>
          </p:cNvPr>
          <p:cNvSpPr txBox="1"/>
          <p:nvPr/>
        </p:nvSpPr>
        <p:spPr>
          <a:xfrm>
            <a:off x="458695" y="29497642"/>
            <a:ext cx="129297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Requirements: Model should be compatible with iPhone products 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B7E49D3F-6535-B026-4C25-1399C9981AA4}"/>
              </a:ext>
            </a:extLst>
          </p:cNvPr>
          <p:cNvSpPr/>
          <p:nvPr/>
        </p:nvSpPr>
        <p:spPr>
          <a:xfrm>
            <a:off x="14125476" y="27678903"/>
            <a:ext cx="15774047" cy="1624566"/>
          </a:xfrm>
          <a:custGeom>
            <a:avLst/>
            <a:gdLst>
              <a:gd name="connsiteX0" fmla="*/ 0 w 16219348"/>
              <a:gd name="connsiteY0" fmla="*/ 0 h 1412893"/>
              <a:gd name="connsiteX1" fmla="*/ 16219348 w 16219348"/>
              <a:gd name="connsiteY1" fmla="*/ 0 h 1412893"/>
              <a:gd name="connsiteX2" fmla="*/ 16219348 w 16219348"/>
              <a:gd name="connsiteY2" fmla="*/ 1412893 h 1412893"/>
              <a:gd name="connsiteX3" fmla="*/ 0 w 16219348"/>
              <a:gd name="connsiteY3" fmla="*/ 1412893 h 1412893"/>
              <a:gd name="connsiteX4" fmla="*/ 0 w 16219348"/>
              <a:gd name="connsiteY4" fmla="*/ 0 h 1412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19348" h="1412893">
                <a:moveTo>
                  <a:pt x="0" y="0"/>
                </a:moveTo>
                <a:lnTo>
                  <a:pt x="16219348" y="0"/>
                </a:lnTo>
                <a:lnTo>
                  <a:pt x="16219348" y="1412893"/>
                </a:lnTo>
                <a:lnTo>
                  <a:pt x="0" y="141289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3825" tIns="123825" rIns="123825" bIns="123825" numCol="1" spcCol="1270" anchor="t" anchorCtr="0">
            <a:noAutofit/>
          </a:bodyPr>
          <a:lstStyle/>
          <a:p>
            <a:pPr lvl="1" algn="ctr" defTabSz="2266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3600" kern="1200" dirty="0"/>
              <a:t>Backlighting reduces glare and shadowing. Modifying the jar test apparatus improves durability and data capture. A fixed phone stand ensures consistent camera angles. </a:t>
            </a:r>
            <a:r>
              <a:rPr lang="en-US" sz="3000" b="1" u="sng" kern="1200" dirty="0">
                <a:highlight>
                  <a:srgbClr val="7FCEF3"/>
                </a:highlight>
              </a:rPr>
              <a:t> </a:t>
            </a:r>
            <a:endParaRPr lang="en-US" sz="3000" kern="1200" dirty="0">
              <a:highlight>
                <a:srgbClr val="7FCEF3"/>
              </a:highlight>
            </a:endParaRPr>
          </a:p>
          <a:p>
            <a:pPr lvl="1" algn="ctr" defTabSz="2266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US" sz="3600" kern="1200" dirty="0"/>
          </a:p>
        </p:txBody>
      </p:sp>
      <p:sp>
        <p:nvSpPr>
          <p:cNvPr id="78" name="Rectangle: Top Corners Rounded 77">
            <a:extLst>
              <a:ext uri="{FF2B5EF4-FFF2-40B4-BE49-F238E27FC236}">
                <a16:creationId xmlns:a16="http://schemas.microsoft.com/office/drawing/2014/main" id="{C1A211D1-3EF8-B20D-4511-CC25D26DFDF3}"/>
              </a:ext>
            </a:extLst>
          </p:cNvPr>
          <p:cNvSpPr/>
          <p:nvPr/>
        </p:nvSpPr>
        <p:spPr>
          <a:xfrm>
            <a:off x="15894362" y="27088240"/>
            <a:ext cx="12236274" cy="605094"/>
          </a:xfrm>
          <a:prstGeom prst="round2SameRect">
            <a:avLst/>
          </a:prstGeom>
          <a:solidFill>
            <a:srgbClr val="7FC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Experimental Methods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7C26E11-9D62-421A-6ACE-D3E433C06A95}"/>
              </a:ext>
            </a:extLst>
          </p:cNvPr>
          <p:cNvCxnSpPr>
            <a:cxnSpLocks/>
          </p:cNvCxnSpPr>
          <p:nvPr/>
        </p:nvCxnSpPr>
        <p:spPr>
          <a:xfrm>
            <a:off x="14125476" y="27693334"/>
            <a:ext cx="15774047" cy="0"/>
          </a:xfrm>
          <a:prstGeom prst="line">
            <a:avLst/>
          </a:prstGeom>
          <a:ln>
            <a:solidFill>
              <a:srgbClr val="1635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274E7A05-0695-CA14-9AB9-544B264B8143}"/>
              </a:ext>
            </a:extLst>
          </p:cNvPr>
          <p:cNvSpPr/>
          <p:nvPr/>
        </p:nvSpPr>
        <p:spPr>
          <a:xfrm>
            <a:off x="30444966" y="24397065"/>
            <a:ext cx="13124400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D46806C-203B-5000-A42C-A9BF2F38C71D}"/>
              </a:ext>
            </a:extLst>
          </p:cNvPr>
          <p:cNvSpPr txBox="1"/>
          <p:nvPr/>
        </p:nvSpPr>
        <p:spPr>
          <a:xfrm>
            <a:off x="31890882" y="24377385"/>
            <a:ext cx="102325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Acknowledgements &amp; References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940D0EF-6D6C-9571-10C0-8A8C97BCC0A3}"/>
              </a:ext>
            </a:extLst>
          </p:cNvPr>
          <p:cNvSpPr txBox="1"/>
          <p:nvPr/>
        </p:nvSpPr>
        <p:spPr>
          <a:xfrm>
            <a:off x="30400086" y="25262697"/>
            <a:ext cx="13214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We sincerely thank ChemTreat for their support and collaboration on this project.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C167B1F-E8BC-CCC7-877F-CFC2868DB65E}"/>
              </a:ext>
            </a:extLst>
          </p:cNvPr>
          <p:cNvSpPr txBox="1">
            <a:spLocks/>
          </p:cNvSpPr>
          <p:nvPr/>
        </p:nvSpPr>
        <p:spPr>
          <a:xfrm>
            <a:off x="30444966" y="28568443"/>
            <a:ext cx="13124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[1] Fisher Scientific. (2023). </a:t>
            </a:r>
            <a:r>
              <a:rPr lang="en-US" sz="1600" i="1" dirty="0"/>
              <a:t>The importance of jar testing in water and wastewater analysis</a:t>
            </a:r>
            <a:r>
              <a:rPr lang="en-US" sz="1600" dirty="0"/>
              <a:t>. Lab Reporter. Retrieved October 6, 2025. </a:t>
            </a:r>
            <a:r>
              <a:rPr lang="en-US" sz="1600" u="sng" dirty="0">
                <a:hlinkClick r:id="rId7"/>
              </a:rPr>
              <a:t>https://</a:t>
            </a:r>
            <a:r>
              <a:rPr lang="en-US" sz="1600" u="sng" dirty="0" err="1">
                <a:hlinkClick r:id="rId7"/>
              </a:rPr>
              <a:t>www.fishersci.com</a:t>
            </a:r>
            <a:r>
              <a:rPr lang="en-US" sz="1600" u="sng" dirty="0">
                <a:hlinkClick r:id="rId7"/>
              </a:rPr>
              <a:t>/us/</a:t>
            </a:r>
            <a:r>
              <a:rPr lang="en-US" sz="1600" u="sng" dirty="0" err="1">
                <a:hlinkClick r:id="rId7"/>
              </a:rPr>
              <a:t>en</a:t>
            </a:r>
            <a:r>
              <a:rPr lang="en-US" sz="1600" u="sng" dirty="0">
                <a:hlinkClick r:id="rId7"/>
              </a:rPr>
              <a:t>/scientific-products/publications/lab-reporter/2023/issue-3/the-importance-of-jar-testing-in-water-and-wastewater-analysis.html</a:t>
            </a:r>
            <a:endParaRPr lang="en-US" sz="1600" u="sng" dirty="0"/>
          </a:p>
          <a:p>
            <a:r>
              <a:rPr lang="en-US" sz="1600" dirty="0"/>
              <a:t>[2] Satterfield, Z. (n.d.). </a:t>
            </a:r>
            <a:r>
              <a:rPr lang="en-US" sz="1600" i="1" dirty="0"/>
              <a:t>Jar testing</a:t>
            </a:r>
            <a:r>
              <a:rPr lang="en-US" sz="1600" dirty="0"/>
              <a:t> (National Environmental Services Center). Retrieved October 6, 2025.</a:t>
            </a:r>
            <a:r>
              <a:rPr lang="en-US" sz="1600" u="sng" dirty="0">
                <a:hlinkClick r:id="rId8"/>
              </a:rPr>
              <a:t> </a:t>
            </a:r>
            <a:r>
              <a:rPr lang="en-US" sz="1600" u="sng" dirty="0">
                <a:hlinkClick r:id="rId9"/>
              </a:rPr>
              <a:t>https://</a:t>
            </a:r>
            <a:r>
              <a:rPr lang="en-US" sz="1600" u="sng" dirty="0" err="1">
                <a:hlinkClick r:id="rId9"/>
              </a:rPr>
              <a:t>actat.wvu.edu</a:t>
            </a:r>
            <a:r>
              <a:rPr lang="en-US" sz="1600" u="sng" dirty="0">
                <a:hlinkClick r:id="rId9"/>
              </a:rPr>
              <a:t>/files/d/</a:t>
            </a:r>
            <a:r>
              <a:rPr lang="en-US" sz="1600" u="sng" dirty="0" err="1">
                <a:hlinkClick r:id="rId9"/>
              </a:rPr>
              <a:t>3cf372e5-ba40-450c-a3ad-cd774f4c3345</a:t>
            </a:r>
            <a:r>
              <a:rPr lang="en-US" sz="1600" u="sng" dirty="0">
                <a:hlinkClick r:id="rId9"/>
              </a:rPr>
              <a:t>/jar-</a:t>
            </a:r>
            <a:r>
              <a:rPr lang="en-US" sz="1600" u="sng" dirty="0" err="1">
                <a:hlinkClick r:id="rId9"/>
              </a:rPr>
              <a:t>testing.pdf</a:t>
            </a:r>
            <a:endParaRPr lang="en-US" sz="1600" u="sng" dirty="0"/>
          </a:p>
          <a:p>
            <a:r>
              <a:rPr lang="en-US" sz="1600" u="sng" dirty="0"/>
              <a:t>[3] </a:t>
            </a:r>
            <a:r>
              <a:rPr lang="en-US" sz="1600" i="1" dirty="0"/>
              <a:t>Flocculators / Jar Tester</a:t>
            </a:r>
            <a:r>
              <a:rPr lang="en-US" sz="1600" dirty="0"/>
              <a:t>. </a:t>
            </a:r>
            <a:r>
              <a:rPr lang="en-US" sz="1600" dirty="0" err="1"/>
              <a:t>VNK</a:t>
            </a:r>
            <a:r>
              <a:rPr lang="en-US" sz="1600" dirty="0"/>
              <a:t> Supply &amp; Services. (n.d.). </a:t>
            </a:r>
            <a:r>
              <a:rPr lang="en-US" sz="1600" dirty="0">
                <a:hlinkClick r:id="rId10"/>
              </a:rPr>
              <a:t>https://</a:t>
            </a:r>
            <a:r>
              <a:rPr lang="en-US" sz="1600" dirty="0" err="1">
                <a:hlinkClick r:id="rId10"/>
              </a:rPr>
              <a:t>vnk.com.my</a:t>
            </a:r>
            <a:r>
              <a:rPr lang="en-US" sz="1600" dirty="0">
                <a:hlinkClick r:id="rId10"/>
              </a:rPr>
              <a:t>/product/flocculators-jar-tester/ </a:t>
            </a:r>
            <a:endParaRPr lang="en-US" sz="1600" dirty="0"/>
          </a:p>
          <a:p>
            <a:r>
              <a:rPr lang="en-US" sz="1600" u="sng" dirty="0"/>
              <a:t>[4] </a:t>
            </a:r>
            <a:r>
              <a:rPr lang="en-US" sz="1600" dirty="0"/>
              <a:t>Amarjargal, B., &amp; Ta&amp;#</a:t>
            </a:r>
            <a:r>
              <a:rPr lang="en-US" sz="1600" dirty="0" err="1"/>
              <a:t>351;demir</a:t>
            </a:r>
            <a:r>
              <a:rPr lang="en-US" sz="1600" dirty="0"/>
              <a:t>, T. (2023, August 24). </a:t>
            </a:r>
            <a:r>
              <a:rPr lang="en-US" sz="1600" i="1" dirty="0"/>
              <a:t>A comparative study: Evaluation of wastewater suspensions flocculation performance using laboratory graduated cylinder and jar test methods - water, air, &amp; soil pollution</a:t>
            </a:r>
            <a:r>
              <a:rPr lang="en-US" sz="1600" dirty="0"/>
              <a:t>. SpringerLink. </a:t>
            </a:r>
            <a:r>
              <a:rPr lang="en-US" sz="1600" dirty="0">
                <a:hlinkClick r:id="rId11"/>
              </a:rPr>
              <a:t>https://</a:t>
            </a:r>
            <a:r>
              <a:rPr lang="en-US" sz="1600" dirty="0" err="1">
                <a:hlinkClick r:id="rId11"/>
              </a:rPr>
              <a:t>link.springer.com</a:t>
            </a:r>
            <a:r>
              <a:rPr lang="en-US" sz="1600" dirty="0">
                <a:hlinkClick r:id="rId11"/>
              </a:rPr>
              <a:t>/article/10.1007/</a:t>
            </a:r>
            <a:r>
              <a:rPr lang="en-US" sz="1600" dirty="0" err="1">
                <a:hlinkClick r:id="rId11"/>
              </a:rPr>
              <a:t>s11270</a:t>
            </a:r>
            <a:r>
              <a:rPr lang="en-US" sz="1600" dirty="0">
                <a:hlinkClick r:id="rId11"/>
              </a:rPr>
              <a:t>-023-06605-0 </a:t>
            </a:r>
            <a:endParaRPr lang="en-US" sz="16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0E3EC75-C601-42DD-6428-76647D16BB03}"/>
              </a:ext>
            </a:extLst>
          </p:cNvPr>
          <p:cNvGrpSpPr/>
          <p:nvPr/>
        </p:nvGrpSpPr>
        <p:grpSpPr>
          <a:xfrm>
            <a:off x="31711489" y="30964571"/>
            <a:ext cx="10051191" cy="1624919"/>
            <a:chOff x="31724189" y="30964571"/>
            <a:chExt cx="10051191" cy="1624919"/>
          </a:xfrm>
        </p:grpSpPr>
        <p:pic>
          <p:nvPicPr>
            <p:cNvPr id="126" name="Picture 125" descr="A blue and yellow snake logo&#10;&#10;AI-generated content may be incorrect.">
              <a:extLst>
                <a:ext uri="{FF2B5EF4-FFF2-40B4-BE49-F238E27FC236}">
                  <a16:creationId xmlns:a16="http://schemas.microsoft.com/office/drawing/2014/main" id="{B79D2A6C-E838-5F3D-5C7F-76E244D93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1724189" y="30964924"/>
              <a:ext cx="1624566" cy="1624566"/>
            </a:xfrm>
            <a:prstGeom prst="rect">
              <a:avLst/>
            </a:prstGeom>
          </p:spPr>
        </p:pic>
        <p:pic>
          <p:nvPicPr>
            <p:cNvPr id="1024" name="Picture 1023" descr="A yellow and orange letter f&#10;&#10;AI-generated content may be incorrect.">
              <a:extLst>
                <a:ext uri="{FF2B5EF4-FFF2-40B4-BE49-F238E27FC236}">
                  <a16:creationId xmlns:a16="http://schemas.microsoft.com/office/drawing/2014/main" id="{07EDE234-E79A-C768-230F-D1162DE4A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4570340" y="30964571"/>
              <a:ext cx="1513306" cy="1623997"/>
            </a:xfrm>
            <a:prstGeom prst="rect">
              <a:avLst/>
            </a:prstGeom>
          </p:spPr>
        </p:pic>
        <p:pic>
          <p:nvPicPr>
            <p:cNvPr id="1026" name="Picture 1025" descr="A colorful circles on a black background&#10;&#10;AI-generated content may be incorrect.">
              <a:extLst>
                <a:ext uri="{FF2B5EF4-FFF2-40B4-BE49-F238E27FC236}">
                  <a16:creationId xmlns:a16="http://schemas.microsoft.com/office/drawing/2014/main" id="{E22628BE-2BE6-E3E1-A4F5-4F2054952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7305231" y="30964571"/>
              <a:ext cx="1623998" cy="1623998"/>
            </a:xfrm>
            <a:prstGeom prst="rect">
              <a:avLst/>
            </a:prstGeom>
          </p:spPr>
        </p:pic>
        <p:pic>
          <p:nvPicPr>
            <p:cNvPr id="1028" name="Picture 1027" descr="A blue and black cube with a letter n&#10;&#10;AI-generated content may be incorrect.">
              <a:extLst>
                <a:ext uri="{FF2B5EF4-FFF2-40B4-BE49-F238E27FC236}">
                  <a16:creationId xmlns:a16="http://schemas.microsoft.com/office/drawing/2014/main" id="{B7619A9C-6382-F494-0E62-719360587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0150814" y="30964924"/>
              <a:ext cx="1624566" cy="1624566"/>
            </a:xfrm>
            <a:prstGeom prst="rect">
              <a:avLst/>
            </a:prstGeom>
          </p:spPr>
        </p:pic>
      </p:grpSp>
      <p:pic>
        <p:nvPicPr>
          <p:cNvPr id="1068" name="Picture 1067" descr="A group of beakers with yellow liquid in them&#10;&#10;AI-generated content may be incorrect.">
            <a:extLst>
              <a:ext uri="{FF2B5EF4-FFF2-40B4-BE49-F238E27FC236}">
                <a16:creationId xmlns:a16="http://schemas.microsoft.com/office/drawing/2014/main" id="{BEA08B30-F51C-2C67-AE5F-CDA4C5F6F59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6530"/>
          <a:stretch>
            <a:fillRect/>
          </a:stretch>
        </p:blipFill>
        <p:spPr>
          <a:xfrm>
            <a:off x="13732971" y="18500629"/>
            <a:ext cx="5444034" cy="2785031"/>
          </a:xfrm>
          <a:prstGeom prst="rect">
            <a:avLst/>
          </a:prstGeom>
        </p:spPr>
      </p:pic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10C261B6-0697-D538-7285-C0FB4E54AE6A}"/>
              </a:ext>
            </a:extLst>
          </p:cNvPr>
          <p:cNvGrpSpPr/>
          <p:nvPr/>
        </p:nvGrpSpPr>
        <p:grpSpPr>
          <a:xfrm>
            <a:off x="13687183" y="18040439"/>
            <a:ext cx="16650633" cy="8183109"/>
            <a:chOff x="13897832" y="12445663"/>
            <a:chExt cx="16915173" cy="8183109"/>
          </a:xfrm>
        </p:grpSpPr>
        <p:sp>
          <p:nvSpPr>
            <p:cNvPr id="1070" name="Shape 1069">
              <a:extLst>
                <a:ext uri="{FF2B5EF4-FFF2-40B4-BE49-F238E27FC236}">
                  <a16:creationId xmlns:a16="http://schemas.microsoft.com/office/drawing/2014/main" id="{EEECADA2-0AE3-AED2-0C2F-737250E2B747}"/>
                </a:ext>
              </a:extLst>
            </p:cNvPr>
            <p:cNvSpPr/>
            <p:nvPr/>
          </p:nvSpPr>
          <p:spPr>
            <a:xfrm rot="318232">
              <a:off x="15901678" y="15842446"/>
              <a:ext cx="6682459" cy="4786326"/>
            </a:xfrm>
            <a:prstGeom prst="leftCircularArrow">
              <a:avLst>
                <a:gd name="adj1" fmla="val 3020"/>
                <a:gd name="adj2" fmla="val 370450"/>
                <a:gd name="adj3" fmla="val 2145961"/>
                <a:gd name="adj4" fmla="val 8521062"/>
                <a:gd name="adj5" fmla="val 3523"/>
              </a:avLst>
            </a:prstGeom>
            <a:solidFill>
              <a:srgbClr val="7FCEF3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71" name="Arrow: Circular 1070">
              <a:extLst>
                <a:ext uri="{FF2B5EF4-FFF2-40B4-BE49-F238E27FC236}">
                  <a16:creationId xmlns:a16="http://schemas.microsoft.com/office/drawing/2014/main" id="{2CC75779-1CC7-7289-50D1-815D5E70EA53}"/>
                </a:ext>
              </a:extLst>
            </p:cNvPr>
            <p:cNvSpPr/>
            <p:nvPr/>
          </p:nvSpPr>
          <p:spPr>
            <a:xfrm rot="21231782">
              <a:off x="22302328" y="12445663"/>
              <a:ext cx="6684265" cy="4581859"/>
            </a:xfrm>
            <a:prstGeom prst="circularArrow">
              <a:avLst>
                <a:gd name="adj1" fmla="val 2702"/>
                <a:gd name="adj2" fmla="val 329063"/>
                <a:gd name="adj3" fmla="val 19495426"/>
                <a:gd name="adj4" fmla="val 13191943"/>
                <a:gd name="adj5" fmla="val 3153"/>
              </a:avLst>
            </a:prstGeom>
            <a:solidFill>
              <a:srgbClr val="7FCEF3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5E43B6E0-8EAC-E07C-1FAF-6CE5C2D7F564}"/>
                </a:ext>
              </a:extLst>
            </p:cNvPr>
            <p:cNvSpPr/>
            <p:nvPr/>
          </p:nvSpPr>
          <p:spPr>
            <a:xfrm>
              <a:off x="19625638" y="13838254"/>
              <a:ext cx="5430318" cy="5996747"/>
            </a:xfrm>
            <a:custGeom>
              <a:avLst/>
              <a:gdLst>
                <a:gd name="connsiteX0" fmla="*/ 0 w 4518088"/>
                <a:gd name="connsiteY0" fmla="*/ 372648 h 3726478"/>
                <a:gd name="connsiteX1" fmla="*/ 372648 w 4518088"/>
                <a:gd name="connsiteY1" fmla="*/ 0 h 3726478"/>
                <a:gd name="connsiteX2" fmla="*/ 4145440 w 4518088"/>
                <a:gd name="connsiteY2" fmla="*/ 0 h 3726478"/>
                <a:gd name="connsiteX3" fmla="*/ 4518088 w 4518088"/>
                <a:gd name="connsiteY3" fmla="*/ 372648 h 3726478"/>
                <a:gd name="connsiteX4" fmla="*/ 4518088 w 4518088"/>
                <a:gd name="connsiteY4" fmla="*/ 3353830 h 3726478"/>
                <a:gd name="connsiteX5" fmla="*/ 4145440 w 4518088"/>
                <a:gd name="connsiteY5" fmla="*/ 3726478 h 3726478"/>
                <a:gd name="connsiteX6" fmla="*/ 372648 w 4518088"/>
                <a:gd name="connsiteY6" fmla="*/ 3726478 h 3726478"/>
                <a:gd name="connsiteX7" fmla="*/ 0 w 4518088"/>
                <a:gd name="connsiteY7" fmla="*/ 3353830 h 3726478"/>
                <a:gd name="connsiteX8" fmla="*/ 0 w 4518088"/>
                <a:gd name="connsiteY8" fmla="*/ 372648 h 3726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8088" h="3726478">
                  <a:moveTo>
                    <a:pt x="0" y="372648"/>
                  </a:moveTo>
                  <a:cubicBezTo>
                    <a:pt x="0" y="166840"/>
                    <a:pt x="166840" y="0"/>
                    <a:pt x="372648" y="0"/>
                  </a:cubicBezTo>
                  <a:lnTo>
                    <a:pt x="4145440" y="0"/>
                  </a:lnTo>
                  <a:cubicBezTo>
                    <a:pt x="4351248" y="0"/>
                    <a:pt x="4518088" y="166840"/>
                    <a:pt x="4518088" y="372648"/>
                  </a:cubicBezTo>
                  <a:lnTo>
                    <a:pt x="4518088" y="3353830"/>
                  </a:lnTo>
                  <a:cubicBezTo>
                    <a:pt x="4518088" y="3559638"/>
                    <a:pt x="4351248" y="3726478"/>
                    <a:pt x="4145440" y="3726478"/>
                  </a:cubicBezTo>
                  <a:lnTo>
                    <a:pt x="372648" y="3726478"/>
                  </a:lnTo>
                  <a:cubicBezTo>
                    <a:pt x="166840" y="3726478"/>
                    <a:pt x="0" y="3559638"/>
                    <a:pt x="0" y="3353830"/>
                  </a:cubicBezTo>
                  <a:lnTo>
                    <a:pt x="0" y="372648"/>
                  </a:lnTo>
                  <a:close/>
                </a:path>
              </a:pathLst>
            </a:custGeom>
            <a:ln>
              <a:solidFill>
                <a:srgbClr val="7FCEF3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667" tIns="502920" rIns="127667" bIns="127667" numCol="1" spcCol="1270" anchor="t" anchorCtr="0">
              <a:noAutofit/>
            </a:bodyPr>
            <a:lstStyle/>
            <a:p>
              <a:pPr marL="228600" lvl="1" indent="-228600" algn="l" defTabSz="9779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Char char="•"/>
              </a:pPr>
              <a:r>
                <a:rPr lang="en-US" sz="3400" b="1" kern="1200" dirty="0"/>
                <a:t>OpenCV</a:t>
              </a:r>
              <a:r>
                <a:rPr lang="en-US" sz="3400" kern="1200" dirty="0"/>
                <a:t> - image processing</a:t>
              </a:r>
            </a:p>
            <a:p>
              <a:pPr marL="228600" lvl="1" indent="-228600" algn="l" defTabSz="9779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3400" b="1" kern="1200" dirty="0"/>
                <a:t>TensorFlow</a:t>
              </a:r>
              <a:r>
                <a:rPr lang="en-US" sz="3400" kern="1200" dirty="0"/>
                <a:t> - overall model development</a:t>
              </a:r>
            </a:p>
            <a:p>
              <a:pPr marL="228600" lvl="1" indent="-228600" algn="l" defTabSz="9779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3400" kern="1200" dirty="0"/>
                <a:t>Video frame is processed through </a:t>
              </a:r>
              <a:r>
                <a:rPr lang="en-US" sz="3400" b="1" kern="1200" dirty="0"/>
                <a:t>background subtraction</a:t>
              </a:r>
              <a:r>
                <a:rPr lang="en-US" sz="3400" kern="1200" dirty="0"/>
                <a:t> and </a:t>
              </a:r>
              <a:r>
                <a:rPr lang="en-US" sz="3400" b="1" kern="1200" dirty="0"/>
                <a:t>settling curve generation </a:t>
              </a:r>
              <a:r>
                <a:rPr lang="en-US" sz="3400" kern="1200" dirty="0"/>
                <a:t>to accurately quantify the settling behavior</a:t>
              </a:r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C51A0C83-D7F1-E86A-BA1E-B469DE176ECD}"/>
                </a:ext>
              </a:extLst>
            </p:cNvPr>
            <p:cNvSpPr/>
            <p:nvPr/>
          </p:nvSpPr>
          <p:spPr>
            <a:xfrm>
              <a:off x="25369451" y="13140934"/>
              <a:ext cx="5427526" cy="2840035"/>
            </a:xfrm>
            <a:custGeom>
              <a:avLst/>
              <a:gdLst>
                <a:gd name="connsiteX0" fmla="*/ 0 w 4518088"/>
                <a:gd name="connsiteY0" fmla="*/ 372648 h 3726478"/>
                <a:gd name="connsiteX1" fmla="*/ 372648 w 4518088"/>
                <a:gd name="connsiteY1" fmla="*/ 0 h 3726478"/>
                <a:gd name="connsiteX2" fmla="*/ 4145440 w 4518088"/>
                <a:gd name="connsiteY2" fmla="*/ 0 h 3726478"/>
                <a:gd name="connsiteX3" fmla="*/ 4518088 w 4518088"/>
                <a:gd name="connsiteY3" fmla="*/ 372648 h 3726478"/>
                <a:gd name="connsiteX4" fmla="*/ 4518088 w 4518088"/>
                <a:gd name="connsiteY4" fmla="*/ 3353830 h 3726478"/>
                <a:gd name="connsiteX5" fmla="*/ 4145440 w 4518088"/>
                <a:gd name="connsiteY5" fmla="*/ 3726478 h 3726478"/>
                <a:gd name="connsiteX6" fmla="*/ 372648 w 4518088"/>
                <a:gd name="connsiteY6" fmla="*/ 3726478 h 3726478"/>
                <a:gd name="connsiteX7" fmla="*/ 0 w 4518088"/>
                <a:gd name="connsiteY7" fmla="*/ 3353830 h 3726478"/>
                <a:gd name="connsiteX8" fmla="*/ 0 w 4518088"/>
                <a:gd name="connsiteY8" fmla="*/ 372648 h 3726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8088" h="3726478">
                  <a:moveTo>
                    <a:pt x="0" y="372648"/>
                  </a:moveTo>
                  <a:cubicBezTo>
                    <a:pt x="0" y="166840"/>
                    <a:pt x="166840" y="0"/>
                    <a:pt x="372648" y="0"/>
                  </a:cubicBezTo>
                  <a:lnTo>
                    <a:pt x="4145440" y="0"/>
                  </a:lnTo>
                  <a:cubicBezTo>
                    <a:pt x="4351248" y="0"/>
                    <a:pt x="4518088" y="166840"/>
                    <a:pt x="4518088" y="372648"/>
                  </a:cubicBezTo>
                  <a:lnTo>
                    <a:pt x="4518088" y="3353830"/>
                  </a:lnTo>
                  <a:cubicBezTo>
                    <a:pt x="4518088" y="3559638"/>
                    <a:pt x="4351248" y="3726478"/>
                    <a:pt x="4145440" y="3726478"/>
                  </a:cubicBezTo>
                  <a:lnTo>
                    <a:pt x="372648" y="3726478"/>
                  </a:lnTo>
                  <a:cubicBezTo>
                    <a:pt x="166840" y="3726478"/>
                    <a:pt x="0" y="3559638"/>
                    <a:pt x="0" y="3353830"/>
                  </a:cubicBezTo>
                  <a:lnTo>
                    <a:pt x="0" y="372648"/>
                  </a:lnTo>
                  <a:close/>
                </a:path>
              </a:pathLst>
            </a:custGeom>
            <a:ln>
              <a:solidFill>
                <a:srgbClr val="7FCEF3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667" tIns="127667" rIns="127667" bIns="926198" numCol="1" spcCol="1270" anchor="t" anchorCtr="0">
              <a:noAutofit/>
            </a:bodyPr>
            <a:lstStyle/>
            <a:p>
              <a:pPr lvl="1" defTabSz="9779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3400" kern="1200" dirty="0"/>
                <a:t>Complete by comparing the system’s automated measurements to manual results and standard turbidity readings.</a:t>
              </a:r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CA2736CF-95D4-CB67-67B3-E6AF454D50C6}"/>
                </a:ext>
              </a:extLst>
            </p:cNvPr>
            <p:cNvSpPr/>
            <p:nvPr/>
          </p:nvSpPr>
          <p:spPr>
            <a:xfrm>
              <a:off x="21039878" y="13163792"/>
              <a:ext cx="4016078" cy="1056577"/>
            </a:xfrm>
            <a:custGeom>
              <a:avLst/>
              <a:gdLst>
                <a:gd name="connsiteX0" fmla="*/ 0 w 4016078"/>
                <a:gd name="connsiteY0" fmla="*/ 159706 h 1597062"/>
                <a:gd name="connsiteX1" fmla="*/ 159706 w 4016078"/>
                <a:gd name="connsiteY1" fmla="*/ 0 h 1597062"/>
                <a:gd name="connsiteX2" fmla="*/ 3856372 w 4016078"/>
                <a:gd name="connsiteY2" fmla="*/ 0 h 1597062"/>
                <a:gd name="connsiteX3" fmla="*/ 4016078 w 4016078"/>
                <a:gd name="connsiteY3" fmla="*/ 159706 h 1597062"/>
                <a:gd name="connsiteX4" fmla="*/ 4016078 w 4016078"/>
                <a:gd name="connsiteY4" fmla="*/ 1437356 h 1597062"/>
                <a:gd name="connsiteX5" fmla="*/ 3856372 w 4016078"/>
                <a:gd name="connsiteY5" fmla="*/ 1597062 h 1597062"/>
                <a:gd name="connsiteX6" fmla="*/ 159706 w 4016078"/>
                <a:gd name="connsiteY6" fmla="*/ 1597062 h 1597062"/>
                <a:gd name="connsiteX7" fmla="*/ 0 w 4016078"/>
                <a:gd name="connsiteY7" fmla="*/ 1437356 h 1597062"/>
                <a:gd name="connsiteX8" fmla="*/ 0 w 4016078"/>
                <a:gd name="connsiteY8" fmla="*/ 159706 h 159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6078" h="1597062">
                  <a:moveTo>
                    <a:pt x="0" y="159706"/>
                  </a:moveTo>
                  <a:cubicBezTo>
                    <a:pt x="0" y="71503"/>
                    <a:pt x="71503" y="0"/>
                    <a:pt x="159706" y="0"/>
                  </a:cubicBezTo>
                  <a:lnTo>
                    <a:pt x="3856372" y="0"/>
                  </a:lnTo>
                  <a:cubicBezTo>
                    <a:pt x="3944575" y="0"/>
                    <a:pt x="4016078" y="71503"/>
                    <a:pt x="4016078" y="159706"/>
                  </a:cubicBezTo>
                  <a:lnTo>
                    <a:pt x="4016078" y="1437356"/>
                  </a:lnTo>
                  <a:cubicBezTo>
                    <a:pt x="4016078" y="1525559"/>
                    <a:pt x="3944575" y="1597062"/>
                    <a:pt x="3856372" y="1597062"/>
                  </a:cubicBezTo>
                  <a:lnTo>
                    <a:pt x="159706" y="1597062"/>
                  </a:lnTo>
                  <a:cubicBezTo>
                    <a:pt x="71503" y="1597062"/>
                    <a:pt x="0" y="1525559"/>
                    <a:pt x="0" y="1437356"/>
                  </a:cubicBezTo>
                  <a:lnTo>
                    <a:pt x="0" y="159706"/>
                  </a:lnTo>
                  <a:close/>
                </a:path>
              </a:pathLst>
            </a:custGeom>
            <a:solidFill>
              <a:srgbClr val="0084C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2501" tIns="103926" rIns="132501" bIns="103926" numCol="1" spcCol="1270" anchor="ctr" anchorCtr="0">
              <a:noAutofit/>
            </a:bodyPr>
            <a:lstStyle/>
            <a:p>
              <a:pPr marL="0" lvl="0" indent="0" algn="ctr" defTabSz="2000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500" kern="1200" dirty="0">
                  <a:solidFill>
                    <a:schemeClr val="bg1"/>
                  </a:solidFill>
                </a:rPr>
                <a:t>Computational</a:t>
              </a:r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335E4298-36C2-9EFE-BE06-2035E7A4C935}"/>
                </a:ext>
              </a:extLst>
            </p:cNvPr>
            <p:cNvSpPr/>
            <p:nvPr/>
          </p:nvSpPr>
          <p:spPr>
            <a:xfrm>
              <a:off x="26796927" y="15641532"/>
              <a:ext cx="4016078" cy="1056577"/>
            </a:xfrm>
            <a:custGeom>
              <a:avLst/>
              <a:gdLst>
                <a:gd name="connsiteX0" fmla="*/ 0 w 4016078"/>
                <a:gd name="connsiteY0" fmla="*/ 159706 h 1597062"/>
                <a:gd name="connsiteX1" fmla="*/ 159706 w 4016078"/>
                <a:gd name="connsiteY1" fmla="*/ 0 h 1597062"/>
                <a:gd name="connsiteX2" fmla="*/ 3856372 w 4016078"/>
                <a:gd name="connsiteY2" fmla="*/ 0 h 1597062"/>
                <a:gd name="connsiteX3" fmla="*/ 4016078 w 4016078"/>
                <a:gd name="connsiteY3" fmla="*/ 159706 h 1597062"/>
                <a:gd name="connsiteX4" fmla="*/ 4016078 w 4016078"/>
                <a:gd name="connsiteY4" fmla="*/ 1437356 h 1597062"/>
                <a:gd name="connsiteX5" fmla="*/ 3856372 w 4016078"/>
                <a:gd name="connsiteY5" fmla="*/ 1597062 h 1597062"/>
                <a:gd name="connsiteX6" fmla="*/ 159706 w 4016078"/>
                <a:gd name="connsiteY6" fmla="*/ 1597062 h 1597062"/>
                <a:gd name="connsiteX7" fmla="*/ 0 w 4016078"/>
                <a:gd name="connsiteY7" fmla="*/ 1437356 h 1597062"/>
                <a:gd name="connsiteX8" fmla="*/ 0 w 4016078"/>
                <a:gd name="connsiteY8" fmla="*/ 159706 h 159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6078" h="1597062">
                  <a:moveTo>
                    <a:pt x="0" y="159706"/>
                  </a:moveTo>
                  <a:cubicBezTo>
                    <a:pt x="0" y="71503"/>
                    <a:pt x="71503" y="0"/>
                    <a:pt x="159706" y="0"/>
                  </a:cubicBezTo>
                  <a:lnTo>
                    <a:pt x="3856372" y="0"/>
                  </a:lnTo>
                  <a:cubicBezTo>
                    <a:pt x="3944575" y="0"/>
                    <a:pt x="4016078" y="71503"/>
                    <a:pt x="4016078" y="159706"/>
                  </a:cubicBezTo>
                  <a:lnTo>
                    <a:pt x="4016078" y="1437356"/>
                  </a:lnTo>
                  <a:cubicBezTo>
                    <a:pt x="4016078" y="1525559"/>
                    <a:pt x="3944575" y="1597062"/>
                    <a:pt x="3856372" y="1597062"/>
                  </a:cubicBezTo>
                  <a:lnTo>
                    <a:pt x="159706" y="1597062"/>
                  </a:lnTo>
                  <a:cubicBezTo>
                    <a:pt x="71503" y="1597062"/>
                    <a:pt x="0" y="1525559"/>
                    <a:pt x="0" y="1437356"/>
                  </a:cubicBezTo>
                  <a:lnTo>
                    <a:pt x="0" y="159706"/>
                  </a:lnTo>
                  <a:close/>
                </a:path>
              </a:pathLst>
            </a:custGeom>
            <a:solidFill>
              <a:srgbClr val="0084C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2501" tIns="103926" rIns="132501" bIns="103926" numCol="1" spcCol="1270" anchor="ctr" anchorCtr="0">
              <a:noAutofit/>
            </a:bodyPr>
            <a:lstStyle/>
            <a:p>
              <a:pPr marL="0" lvl="0" indent="0" algn="ctr" defTabSz="2000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500" kern="1200" dirty="0">
                  <a:solidFill>
                    <a:schemeClr val="bg1"/>
                  </a:solidFill>
                </a:rPr>
                <a:t>Validation</a:t>
              </a:r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32B17C6C-75A0-1DAD-97FD-507E38B7C61F}"/>
                </a:ext>
              </a:extLst>
            </p:cNvPr>
            <p:cNvSpPr/>
            <p:nvPr/>
          </p:nvSpPr>
          <p:spPr>
            <a:xfrm>
              <a:off x="13897832" y="16010876"/>
              <a:ext cx="5427526" cy="3217243"/>
            </a:xfrm>
            <a:custGeom>
              <a:avLst/>
              <a:gdLst>
                <a:gd name="connsiteX0" fmla="*/ 0 w 4518088"/>
                <a:gd name="connsiteY0" fmla="*/ 372648 h 3726478"/>
                <a:gd name="connsiteX1" fmla="*/ 372648 w 4518088"/>
                <a:gd name="connsiteY1" fmla="*/ 0 h 3726478"/>
                <a:gd name="connsiteX2" fmla="*/ 4145440 w 4518088"/>
                <a:gd name="connsiteY2" fmla="*/ 0 h 3726478"/>
                <a:gd name="connsiteX3" fmla="*/ 4518088 w 4518088"/>
                <a:gd name="connsiteY3" fmla="*/ 372648 h 3726478"/>
                <a:gd name="connsiteX4" fmla="*/ 4518088 w 4518088"/>
                <a:gd name="connsiteY4" fmla="*/ 3353830 h 3726478"/>
                <a:gd name="connsiteX5" fmla="*/ 4145440 w 4518088"/>
                <a:gd name="connsiteY5" fmla="*/ 3726478 h 3726478"/>
                <a:gd name="connsiteX6" fmla="*/ 372648 w 4518088"/>
                <a:gd name="connsiteY6" fmla="*/ 3726478 h 3726478"/>
                <a:gd name="connsiteX7" fmla="*/ 0 w 4518088"/>
                <a:gd name="connsiteY7" fmla="*/ 3353830 h 3726478"/>
                <a:gd name="connsiteX8" fmla="*/ 0 w 4518088"/>
                <a:gd name="connsiteY8" fmla="*/ 372648 h 3726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18088" h="3726478">
                  <a:moveTo>
                    <a:pt x="0" y="372648"/>
                  </a:moveTo>
                  <a:cubicBezTo>
                    <a:pt x="0" y="166840"/>
                    <a:pt x="166840" y="0"/>
                    <a:pt x="372648" y="0"/>
                  </a:cubicBezTo>
                  <a:lnTo>
                    <a:pt x="4145440" y="0"/>
                  </a:lnTo>
                  <a:cubicBezTo>
                    <a:pt x="4351248" y="0"/>
                    <a:pt x="4518088" y="166840"/>
                    <a:pt x="4518088" y="372648"/>
                  </a:cubicBezTo>
                  <a:lnTo>
                    <a:pt x="4518088" y="3353830"/>
                  </a:lnTo>
                  <a:cubicBezTo>
                    <a:pt x="4518088" y="3559638"/>
                    <a:pt x="4351248" y="3726478"/>
                    <a:pt x="4145440" y="3726478"/>
                  </a:cubicBezTo>
                  <a:lnTo>
                    <a:pt x="372648" y="3726478"/>
                  </a:lnTo>
                  <a:cubicBezTo>
                    <a:pt x="166840" y="3726478"/>
                    <a:pt x="0" y="3559638"/>
                    <a:pt x="0" y="3353830"/>
                  </a:cubicBezTo>
                  <a:lnTo>
                    <a:pt x="0" y="372648"/>
                  </a:lnTo>
                  <a:close/>
                </a:path>
              </a:pathLst>
            </a:custGeom>
            <a:ln>
              <a:solidFill>
                <a:srgbClr val="7FCEF3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667" tIns="127667" rIns="127667" bIns="926198" numCol="1" spcCol="1270" anchor="t" anchorCtr="0">
              <a:noAutofit/>
            </a:bodyPr>
            <a:lstStyle/>
            <a:p>
              <a:r>
                <a:rPr lang="en-US" sz="3400" dirty="0"/>
                <a:t>Confirm structural robustness and determine the effect of jar position on computation and create a calibration curve</a:t>
              </a:r>
            </a:p>
            <a:p>
              <a:pPr marL="228600" lvl="1" indent="-228600" algn="l" defTabSz="9779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2200" kern="1200" dirty="0"/>
            </a:p>
            <a:p>
              <a:pPr marL="228600" lvl="1" indent="-228600" algn="l" defTabSz="9779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2200" kern="1200" dirty="0"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AC3928F1-3577-CC7B-9755-3DCE6A034BAA}"/>
                </a:ext>
              </a:extLst>
            </p:cNvPr>
            <p:cNvSpPr/>
            <p:nvPr/>
          </p:nvSpPr>
          <p:spPr>
            <a:xfrm>
              <a:off x="15312858" y="18757475"/>
              <a:ext cx="4016078" cy="1056577"/>
            </a:xfrm>
            <a:custGeom>
              <a:avLst/>
              <a:gdLst>
                <a:gd name="connsiteX0" fmla="*/ 0 w 4016078"/>
                <a:gd name="connsiteY0" fmla="*/ 159706 h 1597062"/>
                <a:gd name="connsiteX1" fmla="*/ 159706 w 4016078"/>
                <a:gd name="connsiteY1" fmla="*/ 0 h 1597062"/>
                <a:gd name="connsiteX2" fmla="*/ 3856372 w 4016078"/>
                <a:gd name="connsiteY2" fmla="*/ 0 h 1597062"/>
                <a:gd name="connsiteX3" fmla="*/ 4016078 w 4016078"/>
                <a:gd name="connsiteY3" fmla="*/ 159706 h 1597062"/>
                <a:gd name="connsiteX4" fmla="*/ 4016078 w 4016078"/>
                <a:gd name="connsiteY4" fmla="*/ 1437356 h 1597062"/>
                <a:gd name="connsiteX5" fmla="*/ 3856372 w 4016078"/>
                <a:gd name="connsiteY5" fmla="*/ 1597062 h 1597062"/>
                <a:gd name="connsiteX6" fmla="*/ 159706 w 4016078"/>
                <a:gd name="connsiteY6" fmla="*/ 1597062 h 1597062"/>
                <a:gd name="connsiteX7" fmla="*/ 0 w 4016078"/>
                <a:gd name="connsiteY7" fmla="*/ 1437356 h 1597062"/>
                <a:gd name="connsiteX8" fmla="*/ 0 w 4016078"/>
                <a:gd name="connsiteY8" fmla="*/ 159706 h 159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6078" h="1597062">
                  <a:moveTo>
                    <a:pt x="0" y="159706"/>
                  </a:moveTo>
                  <a:cubicBezTo>
                    <a:pt x="0" y="71503"/>
                    <a:pt x="71503" y="0"/>
                    <a:pt x="159706" y="0"/>
                  </a:cubicBezTo>
                  <a:lnTo>
                    <a:pt x="3856372" y="0"/>
                  </a:lnTo>
                  <a:cubicBezTo>
                    <a:pt x="3944575" y="0"/>
                    <a:pt x="4016078" y="71503"/>
                    <a:pt x="4016078" y="159706"/>
                  </a:cubicBezTo>
                  <a:lnTo>
                    <a:pt x="4016078" y="1437356"/>
                  </a:lnTo>
                  <a:cubicBezTo>
                    <a:pt x="4016078" y="1525559"/>
                    <a:pt x="3944575" y="1597062"/>
                    <a:pt x="3856372" y="1597062"/>
                  </a:cubicBezTo>
                  <a:lnTo>
                    <a:pt x="159706" y="1597062"/>
                  </a:lnTo>
                  <a:cubicBezTo>
                    <a:pt x="71503" y="1597062"/>
                    <a:pt x="0" y="1525559"/>
                    <a:pt x="0" y="1437356"/>
                  </a:cubicBezTo>
                  <a:lnTo>
                    <a:pt x="0" y="159706"/>
                  </a:lnTo>
                  <a:close/>
                </a:path>
              </a:pathLst>
            </a:custGeom>
            <a:solidFill>
              <a:srgbClr val="0084C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2501" tIns="103926" rIns="132501" bIns="103926" numCol="1" spcCol="1270" anchor="ctr" anchorCtr="0">
              <a:noAutofit/>
            </a:bodyPr>
            <a:lstStyle/>
            <a:p>
              <a:pPr marL="0" lvl="0" indent="0" algn="ctr" defTabSz="2000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500" kern="1200" dirty="0">
                  <a:solidFill>
                    <a:schemeClr val="bg1"/>
                  </a:solidFill>
                </a:rPr>
                <a:t>Experimental</a:t>
              </a:r>
            </a:p>
          </p:txBody>
        </p:sp>
      </p:grpSp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BA3F53E2-542F-220C-B9B9-7579CD2444B6}"/>
              </a:ext>
            </a:extLst>
          </p:cNvPr>
          <p:cNvGrpSpPr/>
          <p:nvPr/>
        </p:nvGrpSpPr>
        <p:grpSpPr>
          <a:xfrm>
            <a:off x="24790524" y="22676612"/>
            <a:ext cx="5444034" cy="2898589"/>
            <a:chOff x="25076150" y="17981271"/>
            <a:chExt cx="5158408" cy="2831042"/>
          </a:xfrm>
        </p:grpSpPr>
        <p:sp>
          <p:nvSpPr>
            <p:cNvPr id="1079" name="Rectangle 1078">
              <a:extLst>
                <a:ext uri="{FF2B5EF4-FFF2-40B4-BE49-F238E27FC236}">
                  <a16:creationId xmlns:a16="http://schemas.microsoft.com/office/drawing/2014/main" id="{A1CE7F48-8D1E-3694-B17B-FA51DADBD555}"/>
                </a:ext>
              </a:extLst>
            </p:cNvPr>
            <p:cNvSpPr/>
            <p:nvPr/>
          </p:nvSpPr>
          <p:spPr>
            <a:xfrm>
              <a:off x="25076150" y="17983980"/>
              <a:ext cx="5158408" cy="2825624"/>
            </a:xfrm>
            <a:prstGeom prst="rect">
              <a:avLst/>
            </a:prstGeom>
            <a:solidFill>
              <a:srgbClr val="FDF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43" name="Picture 2" descr="A Comparative Study: Evaluation of Wastewater Suspensions Flocculation  Performance Using Laboratory Graduated Cylinder and Jar Test Methods |  Water, Air, &amp; Soil Pollution">
              <a:extLst>
                <a:ext uri="{FF2B5EF4-FFF2-40B4-BE49-F238E27FC236}">
                  <a16:creationId xmlns:a16="http://schemas.microsoft.com/office/drawing/2014/main" id="{F6C9FAFA-4C10-4904-2AED-4DCCA5F7CB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33" b="3192"/>
            <a:stretch>
              <a:fillRect/>
            </a:stretch>
          </p:blipFill>
          <p:spPr bwMode="auto">
            <a:xfrm>
              <a:off x="25187983" y="17998152"/>
              <a:ext cx="4851439" cy="28114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44" name="Rectangle 1143">
              <a:extLst>
                <a:ext uri="{FF2B5EF4-FFF2-40B4-BE49-F238E27FC236}">
                  <a16:creationId xmlns:a16="http://schemas.microsoft.com/office/drawing/2014/main" id="{E9AEC9B0-002F-026F-960C-359163CBD7F3}"/>
                </a:ext>
              </a:extLst>
            </p:cNvPr>
            <p:cNvSpPr/>
            <p:nvPr/>
          </p:nvSpPr>
          <p:spPr>
            <a:xfrm>
              <a:off x="27287970" y="17981272"/>
              <a:ext cx="651464" cy="139974"/>
            </a:xfrm>
            <a:prstGeom prst="rect">
              <a:avLst/>
            </a:prstGeom>
            <a:solidFill>
              <a:srgbClr val="FDF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5" name="Rectangle 1144">
              <a:extLst>
                <a:ext uri="{FF2B5EF4-FFF2-40B4-BE49-F238E27FC236}">
                  <a16:creationId xmlns:a16="http://schemas.microsoft.com/office/drawing/2014/main" id="{EADEF2CC-E552-32F1-4CC0-2C1C79119292}"/>
                </a:ext>
              </a:extLst>
            </p:cNvPr>
            <p:cNvSpPr/>
            <p:nvPr/>
          </p:nvSpPr>
          <p:spPr>
            <a:xfrm>
              <a:off x="29418023" y="17981271"/>
              <a:ext cx="651464" cy="332929"/>
            </a:xfrm>
            <a:prstGeom prst="rect">
              <a:avLst/>
            </a:prstGeom>
            <a:solidFill>
              <a:srgbClr val="FDF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6" name="Rectangle 1145">
              <a:extLst>
                <a:ext uri="{FF2B5EF4-FFF2-40B4-BE49-F238E27FC236}">
                  <a16:creationId xmlns:a16="http://schemas.microsoft.com/office/drawing/2014/main" id="{FC91F232-E7A2-B6CD-4BBB-8F095C41CAD1}"/>
                </a:ext>
              </a:extLst>
            </p:cNvPr>
            <p:cNvSpPr/>
            <p:nvPr/>
          </p:nvSpPr>
          <p:spPr>
            <a:xfrm>
              <a:off x="25174710" y="17981271"/>
              <a:ext cx="651464" cy="332929"/>
            </a:xfrm>
            <a:prstGeom prst="rect">
              <a:avLst/>
            </a:prstGeom>
            <a:solidFill>
              <a:srgbClr val="FDF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7" name="Rectangle 1146">
              <a:extLst>
                <a:ext uri="{FF2B5EF4-FFF2-40B4-BE49-F238E27FC236}">
                  <a16:creationId xmlns:a16="http://schemas.microsoft.com/office/drawing/2014/main" id="{9810E578-B68E-4498-5E7C-FBB39BA34F99}"/>
                </a:ext>
              </a:extLst>
            </p:cNvPr>
            <p:cNvSpPr/>
            <p:nvPr/>
          </p:nvSpPr>
          <p:spPr>
            <a:xfrm>
              <a:off x="29967080" y="18135936"/>
              <a:ext cx="98113" cy="2535727"/>
            </a:xfrm>
            <a:prstGeom prst="rect">
              <a:avLst/>
            </a:prstGeom>
            <a:solidFill>
              <a:srgbClr val="FDF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8" name="Rectangle 1147">
              <a:extLst>
                <a:ext uri="{FF2B5EF4-FFF2-40B4-BE49-F238E27FC236}">
                  <a16:creationId xmlns:a16="http://schemas.microsoft.com/office/drawing/2014/main" id="{799D4B5D-1758-17E2-2B55-5000CA03FC51}"/>
                </a:ext>
              </a:extLst>
            </p:cNvPr>
            <p:cNvSpPr/>
            <p:nvPr/>
          </p:nvSpPr>
          <p:spPr>
            <a:xfrm>
              <a:off x="29780548" y="20291363"/>
              <a:ext cx="284645" cy="520950"/>
            </a:xfrm>
            <a:prstGeom prst="rect">
              <a:avLst/>
            </a:prstGeom>
            <a:solidFill>
              <a:srgbClr val="FDF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9" name="Rectangle 1148">
              <a:extLst>
                <a:ext uri="{FF2B5EF4-FFF2-40B4-BE49-F238E27FC236}">
                  <a16:creationId xmlns:a16="http://schemas.microsoft.com/office/drawing/2014/main" id="{44DB2750-DA2B-5C83-A551-75F4816F8C67}"/>
                </a:ext>
              </a:extLst>
            </p:cNvPr>
            <p:cNvSpPr/>
            <p:nvPr/>
          </p:nvSpPr>
          <p:spPr>
            <a:xfrm>
              <a:off x="25183689" y="18001604"/>
              <a:ext cx="53752" cy="2670059"/>
            </a:xfrm>
            <a:prstGeom prst="rect">
              <a:avLst/>
            </a:prstGeom>
            <a:solidFill>
              <a:srgbClr val="FDF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0" name="Rectangle 1149">
              <a:extLst>
                <a:ext uri="{FF2B5EF4-FFF2-40B4-BE49-F238E27FC236}">
                  <a16:creationId xmlns:a16="http://schemas.microsoft.com/office/drawing/2014/main" id="{B880C681-9B23-FB2B-6A76-EACCBBE34F5F}"/>
                </a:ext>
              </a:extLst>
            </p:cNvPr>
            <p:cNvSpPr/>
            <p:nvPr/>
          </p:nvSpPr>
          <p:spPr>
            <a:xfrm>
              <a:off x="25187983" y="20597431"/>
              <a:ext cx="268045" cy="214881"/>
            </a:xfrm>
            <a:prstGeom prst="rect">
              <a:avLst/>
            </a:prstGeom>
            <a:solidFill>
              <a:srgbClr val="FDF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1" name="Rectangle 1150">
              <a:extLst>
                <a:ext uri="{FF2B5EF4-FFF2-40B4-BE49-F238E27FC236}">
                  <a16:creationId xmlns:a16="http://schemas.microsoft.com/office/drawing/2014/main" id="{C7B21F77-190A-AAB6-A696-2FF2738E9A75}"/>
                </a:ext>
              </a:extLst>
            </p:cNvPr>
            <p:cNvSpPr/>
            <p:nvPr/>
          </p:nvSpPr>
          <p:spPr>
            <a:xfrm>
              <a:off x="25183690" y="20564222"/>
              <a:ext cx="78992" cy="214881"/>
            </a:xfrm>
            <a:prstGeom prst="rect">
              <a:avLst/>
            </a:prstGeom>
            <a:solidFill>
              <a:srgbClr val="FDF1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45" name="Group 1244">
            <a:extLst>
              <a:ext uri="{FF2B5EF4-FFF2-40B4-BE49-F238E27FC236}">
                <a16:creationId xmlns:a16="http://schemas.microsoft.com/office/drawing/2014/main" id="{4F2833CB-DC31-69BA-C129-E3E4180F609E}"/>
              </a:ext>
            </a:extLst>
          </p:cNvPr>
          <p:cNvGrpSpPr/>
          <p:nvPr/>
        </p:nvGrpSpPr>
        <p:grpSpPr>
          <a:xfrm>
            <a:off x="13795888" y="6964249"/>
            <a:ext cx="5571395" cy="3996509"/>
            <a:chOff x="1241417" y="3008318"/>
            <a:chExt cx="3362180" cy="2491288"/>
          </a:xfrm>
        </p:grpSpPr>
        <p:sp>
          <p:nvSpPr>
            <p:cNvPr id="1246" name="Rectangle 1245">
              <a:extLst>
                <a:ext uri="{FF2B5EF4-FFF2-40B4-BE49-F238E27FC236}">
                  <a16:creationId xmlns:a16="http://schemas.microsoft.com/office/drawing/2014/main" id="{37E0EB80-C9D5-1F59-5E7A-79BBC0E5829F}"/>
                </a:ext>
              </a:extLst>
            </p:cNvPr>
            <p:cNvSpPr/>
            <p:nvPr/>
          </p:nvSpPr>
          <p:spPr>
            <a:xfrm>
              <a:off x="1425557" y="3011684"/>
              <a:ext cx="2972758" cy="177453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9050" cap="flat" cmpd="sng" algn="ctr">
              <a:solidFill>
                <a:sysClr val="windowText" lastClr="000000">
                  <a:shade val="1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1247" name="Group 1246">
              <a:extLst>
                <a:ext uri="{FF2B5EF4-FFF2-40B4-BE49-F238E27FC236}">
                  <a16:creationId xmlns:a16="http://schemas.microsoft.com/office/drawing/2014/main" id="{152FAF65-E8BC-5E41-BB64-EB2C86860B05}"/>
                </a:ext>
              </a:extLst>
            </p:cNvPr>
            <p:cNvGrpSpPr/>
            <p:nvPr/>
          </p:nvGrpSpPr>
          <p:grpSpPr>
            <a:xfrm>
              <a:off x="1425557" y="4466139"/>
              <a:ext cx="2972758" cy="359562"/>
              <a:chOff x="1425557" y="4466139"/>
              <a:chExt cx="2972758" cy="359562"/>
            </a:xfrm>
          </p:grpSpPr>
          <p:sp>
            <p:nvSpPr>
              <p:cNvPr id="1262" name="Rectangle 1261">
                <a:extLst>
                  <a:ext uri="{FF2B5EF4-FFF2-40B4-BE49-F238E27FC236}">
                    <a16:creationId xmlns:a16="http://schemas.microsoft.com/office/drawing/2014/main" id="{BAA9CA6E-E9ED-89F5-11BF-1F170458915D}"/>
                  </a:ext>
                </a:extLst>
              </p:cNvPr>
              <p:cNvSpPr/>
              <p:nvPr/>
            </p:nvSpPr>
            <p:spPr>
              <a:xfrm>
                <a:off x="1698232" y="4483920"/>
                <a:ext cx="317067" cy="237714"/>
              </a:xfrm>
              <a:prstGeom prst="rect">
                <a:avLst/>
              </a:prstGeom>
              <a:gradFill flip="none" rotWithShape="1">
                <a:gsLst>
                  <a:gs pos="0">
                    <a:sysClr val="window" lastClr="FFFFFF"/>
                  </a:gs>
                  <a:gs pos="23000">
                    <a:sysClr val="window" lastClr="FFFFFF"/>
                  </a:gs>
                  <a:gs pos="69000">
                    <a:srgbClr val="F6F6C0"/>
                  </a:gs>
                  <a:gs pos="97000">
                    <a:srgbClr val="F6F6C0"/>
                  </a:gs>
                </a:gsLst>
                <a:path path="circle">
                  <a:fillToRect l="50000" t="50000" r="50000" b="50000"/>
                </a:path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>
                <a:glow rad="228600">
                  <a:srgbClr val="F6F6C0">
                    <a:alpha val="40000"/>
                  </a:srgbClr>
                </a:glo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63" name="Rectangle 1262">
                <a:extLst>
                  <a:ext uri="{FF2B5EF4-FFF2-40B4-BE49-F238E27FC236}">
                    <a16:creationId xmlns:a16="http://schemas.microsoft.com/office/drawing/2014/main" id="{4E563754-FD50-BE65-15C3-EC90C0D807B7}"/>
                  </a:ext>
                </a:extLst>
              </p:cNvPr>
              <p:cNvSpPr/>
              <p:nvPr/>
            </p:nvSpPr>
            <p:spPr>
              <a:xfrm>
                <a:off x="2389197" y="4497622"/>
                <a:ext cx="317067" cy="237714"/>
              </a:xfrm>
              <a:prstGeom prst="rect">
                <a:avLst/>
              </a:prstGeom>
              <a:gradFill flip="none" rotWithShape="1">
                <a:gsLst>
                  <a:gs pos="0">
                    <a:sysClr val="window" lastClr="FFFFFF"/>
                  </a:gs>
                  <a:gs pos="23000">
                    <a:sysClr val="window" lastClr="FFFFFF"/>
                  </a:gs>
                  <a:gs pos="69000">
                    <a:srgbClr val="F6F6C0"/>
                  </a:gs>
                  <a:gs pos="97000">
                    <a:srgbClr val="F6F6C0"/>
                  </a:gs>
                </a:gsLst>
                <a:path path="circle">
                  <a:fillToRect l="50000" t="50000" r="50000" b="50000"/>
                </a:path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>
                <a:glow rad="228600">
                  <a:srgbClr val="F6F6C0">
                    <a:alpha val="40000"/>
                  </a:srgbClr>
                </a:glo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64" name="Rectangle 1263">
                <a:extLst>
                  <a:ext uri="{FF2B5EF4-FFF2-40B4-BE49-F238E27FC236}">
                    <a16:creationId xmlns:a16="http://schemas.microsoft.com/office/drawing/2014/main" id="{68011A5B-AC77-A2FA-580C-FCE687D0D4F1}"/>
                  </a:ext>
                </a:extLst>
              </p:cNvPr>
              <p:cNvSpPr/>
              <p:nvPr/>
            </p:nvSpPr>
            <p:spPr>
              <a:xfrm>
                <a:off x="3114710" y="4487514"/>
                <a:ext cx="317067" cy="237714"/>
              </a:xfrm>
              <a:prstGeom prst="rect">
                <a:avLst/>
              </a:prstGeom>
              <a:gradFill flip="none" rotWithShape="1">
                <a:gsLst>
                  <a:gs pos="0">
                    <a:sysClr val="window" lastClr="FFFFFF"/>
                  </a:gs>
                  <a:gs pos="23000">
                    <a:sysClr val="window" lastClr="FFFFFF"/>
                  </a:gs>
                  <a:gs pos="69000">
                    <a:srgbClr val="F6F6C0"/>
                  </a:gs>
                  <a:gs pos="97000">
                    <a:srgbClr val="F6F6C0"/>
                  </a:gs>
                </a:gsLst>
                <a:path path="circle">
                  <a:fillToRect l="50000" t="50000" r="50000" b="50000"/>
                </a:path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>
                <a:glow rad="228600">
                  <a:srgbClr val="F6F6C0">
                    <a:alpha val="40000"/>
                  </a:srgbClr>
                </a:glo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65" name="Rectangle 1264">
                <a:extLst>
                  <a:ext uri="{FF2B5EF4-FFF2-40B4-BE49-F238E27FC236}">
                    <a16:creationId xmlns:a16="http://schemas.microsoft.com/office/drawing/2014/main" id="{4BF2389A-4923-0B16-ECD4-663A8815A883}"/>
                  </a:ext>
                </a:extLst>
              </p:cNvPr>
              <p:cNvSpPr/>
              <p:nvPr/>
            </p:nvSpPr>
            <p:spPr>
              <a:xfrm>
                <a:off x="3817168" y="4514282"/>
                <a:ext cx="317067" cy="237714"/>
              </a:xfrm>
              <a:prstGeom prst="rect">
                <a:avLst/>
              </a:prstGeom>
              <a:gradFill flip="none" rotWithShape="1">
                <a:gsLst>
                  <a:gs pos="0">
                    <a:sysClr val="window" lastClr="FFFFFF"/>
                  </a:gs>
                  <a:gs pos="23000">
                    <a:sysClr val="window" lastClr="FFFFFF"/>
                  </a:gs>
                  <a:gs pos="69000">
                    <a:srgbClr val="F6F6C0"/>
                  </a:gs>
                  <a:gs pos="97000">
                    <a:srgbClr val="F6F6C0"/>
                  </a:gs>
                </a:gsLst>
                <a:path path="circle">
                  <a:fillToRect l="50000" t="50000" r="50000" b="50000"/>
                </a:path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>
                <a:glow rad="228600">
                  <a:srgbClr val="F6F6C0">
                    <a:alpha val="40000"/>
                  </a:srgbClr>
                </a:glo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66" name="Rectangle 1265">
                <a:extLst>
                  <a:ext uri="{FF2B5EF4-FFF2-40B4-BE49-F238E27FC236}">
                    <a16:creationId xmlns:a16="http://schemas.microsoft.com/office/drawing/2014/main" id="{42160AB8-1D00-6E97-0EBA-DC0F1BD2778F}"/>
                  </a:ext>
                </a:extLst>
              </p:cNvPr>
              <p:cNvSpPr/>
              <p:nvPr/>
            </p:nvSpPr>
            <p:spPr>
              <a:xfrm>
                <a:off x="1425557" y="4681182"/>
                <a:ext cx="2972758" cy="101666"/>
              </a:xfrm>
              <a:prstGeom prst="rect">
                <a:avLst/>
              </a:prstGeom>
              <a:solidFill>
                <a:srgbClr val="E8E8E8">
                  <a:lumMod val="50000"/>
                </a:srgbClr>
              </a:solidFill>
              <a:ln w="19050" cap="flat" cmpd="sng" algn="ctr">
                <a:solidFill>
                  <a:sysClr val="windowText" lastClr="000000">
                    <a:shade val="1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1267" name="Graphic 1266" descr="Streetlight outline">
                <a:extLst>
                  <a:ext uri="{FF2B5EF4-FFF2-40B4-BE49-F238E27FC236}">
                    <a16:creationId xmlns:a16="http://schemas.microsoft.com/office/drawing/2014/main" id="{F6E5FCCE-0614-6AD9-4E26-B81E37642D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rcRect l="45314" r="12935" b="64509"/>
              <a:stretch>
                <a:fillRect/>
              </a:stretch>
            </p:blipFill>
            <p:spPr>
              <a:xfrm flipV="1">
                <a:off x="1634404" y="4466139"/>
                <a:ext cx="410755" cy="349169"/>
              </a:xfrm>
              <a:prstGeom prst="rect">
                <a:avLst/>
              </a:prstGeom>
            </p:spPr>
          </p:pic>
          <p:pic>
            <p:nvPicPr>
              <p:cNvPr id="1268" name="Graphic 1267" descr="Streetlight outline">
                <a:extLst>
                  <a:ext uri="{FF2B5EF4-FFF2-40B4-BE49-F238E27FC236}">
                    <a16:creationId xmlns:a16="http://schemas.microsoft.com/office/drawing/2014/main" id="{79C15EA5-3FA7-253B-C2D2-A22C99912B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rcRect l="45314" r="12935" b="64509"/>
              <a:stretch>
                <a:fillRect/>
              </a:stretch>
            </p:blipFill>
            <p:spPr>
              <a:xfrm flipV="1">
                <a:off x="2409716" y="4496543"/>
                <a:ext cx="381767" cy="324527"/>
              </a:xfrm>
              <a:prstGeom prst="rect">
                <a:avLst/>
              </a:prstGeom>
            </p:spPr>
          </p:pic>
          <p:pic>
            <p:nvPicPr>
              <p:cNvPr id="1269" name="Graphic 1268" descr="Streetlight outline">
                <a:extLst>
                  <a:ext uri="{FF2B5EF4-FFF2-40B4-BE49-F238E27FC236}">
                    <a16:creationId xmlns:a16="http://schemas.microsoft.com/office/drawing/2014/main" id="{BCF0FE6A-A491-1754-2289-616E9C1C7D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rcRect l="45314" r="12935" b="64509"/>
              <a:stretch>
                <a:fillRect/>
              </a:stretch>
            </p:blipFill>
            <p:spPr>
              <a:xfrm flipV="1">
                <a:off x="3104230" y="4501174"/>
                <a:ext cx="381767" cy="324527"/>
              </a:xfrm>
              <a:prstGeom prst="rect">
                <a:avLst/>
              </a:prstGeom>
            </p:spPr>
          </p:pic>
          <p:pic>
            <p:nvPicPr>
              <p:cNvPr id="1270" name="Graphic 1269" descr="Streetlight outline">
                <a:extLst>
                  <a:ext uri="{FF2B5EF4-FFF2-40B4-BE49-F238E27FC236}">
                    <a16:creationId xmlns:a16="http://schemas.microsoft.com/office/drawing/2014/main" id="{D1BA861C-9EE1-E331-B945-46BE78F56C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rcRect l="45314" r="12935" b="64509"/>
              <a:stretch>
                <a:fillRect/>
              </a:stretch>
            </p:blipFill>
            <p:spPr>
              <a:xfrm flipV="1">
                <a:off x="3811547" y="4493019"/>
                <a:ext cx="381767" cy="324527"/>
              </a:xfrm>
              <a:prstGeom prst="rect">
                <a:avLst/>
              </a:prstGeom>
            </p:spPr>
          </p:pic>
        </p:grpSp>
        <p:grpSp>
          <p:nvGrpSpPr>
            <p:cNvPr id="1248" name="Group 1247">
              <a:extLst>
                <a:ext uri="{FF2B5EF4-FFF2-40B4-BE49-F238E27FC236}">
                  <a16:creationId xmlns:a16="http://schemas.microsoft.com/office/drawing/2014/main" id="{A3DDF391-DC44-0897-1949-CF3E458C25D1}"/>
                </a:ext>
              </a:extLst>
            </p:cNvPr>
            <p:cNvGrpSpPr/>
            <p:nvPr/>
          </p:nvGrpSpPr>
          <p:grpSpPr>
            <a:xfrm>
              <a:off x="1241417" y="3894503"/>
              <a:ext cx="3362180" cy="840075"/>
              <a:chOff x="736518" y="1278572"/>
              <a:chExt cx="3362180" cy="840075"/>
            </a:xfrm>
          </p:grpSpPr>
          <p:pic>
            <p:nvPicPr>
              <p:cNvPr id="1258" name="Graphic 1257" descr="Beaker outline">
                <a:extLst>
                  <a:ext uri="{FF2B5EF4-FFF2-40B4-BE49-F238E27FC236}">
                    <a16:creationId xmlns:a16="http://schemas.microsoft.com/office/drawing/2014/main" id="{920847D3-2A71-3B76-45B3-4E8E544D75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 t="32136"/>
              <a:stretch>
                <a:fillRect/>
              </a:stretch>
            </p:blipFill>
            <p:spPr>
              <a:xfrm>
                <a:off x="736518" y="1282714"/>
                <a:ext cx="1227509" cy="833036"/>
              </a:xfrm>
              <a:prstGeom prst="rect">
                <a:avLst/>
              </a:prstGeom>
            </p:spPr>
          </p:pic>
          <p:pic>
            <p:nvPicPr>
              <p:cNvPr id="1259" name="Graphic 1258" descr="Beaker outline">
                <a:extLst>
                  <a:ext uri="{FF2B5EF4-FFF2-40B4-BE49-F238E27FC236}">
                    <a16:creationId xmlns:a16="http://schemas.microsoft.com/office/drawing/2014/main" id="{C098A38F-0C6D-37FE-A2D9-A6402EC32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 t="32136"/>
              <a:stretch>
                <a:fillRect/>
              </a:stretch>
            </p:blipFill>
            <p:spPr>
              <a:xfrm>
                <a:off x="1446700" y="1278572"/>
                <a:ext cx="1227509" cy="833036"/>
              </a:xfrm>
              <a:prstGeom prst="rect">
                <a:avLst/>
              </a:prstGeom>
            </p:spPr>
          </p:pic>
          <p:pic>
            <p:nvPicPr>
              <p:cNvPr id="1260" name="Picture 1259">
                <a:extLst>
                  <a:ext uri="{FF2B5EF4-FFF2-40B4-BE49-F238E27FC236}">
                    <a16:creationId xmlns:a16="http://schemas.microsoft.com/office/drawing/2014/main" id="{5BD508AC-F893-ADBD-C780-87FD9914AC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146518" y="1283423"/>
                <a:ext cx="1225402" cy="835224"/>
              </a:xfrm>
              <a:prstGeom prst="rect">
                <a:avLst/>
              </a:prstGeom>
            </p:spPr>
          </p:pic>
          <p:pic>
            <p:nvPicPr>
              <p:cNvPr id="1261" name="Picture 1260">
                <a:extLst>
                  <a:ext uri="{FF2B5EF4-FFF2-40B4-BE49-F238E27FC236}">
                    <a16:creationId xmlns:a16="http://schemas.microsoft.com/office/drawing/2014/main" id="{29298FCB-05F5-F209-B8EE-3F861B1745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873296" y="1280818"/>
                <a:ext cx="1225402" cy="835224"/>
              </a:xfrm>
              <a:prstGeom prst="rect">
                <a:avLst/>
              </a:prstGeom>
            </p:spPr>
          </p:pic>
        </p:grpSp>
        <p:sp>
          <p:nvSpPr>
            <p:cNvPr id="1249" name="Rectangle 1248">
              <a:extLst>
                <a:ext uri="{FF2B5EF4-FFF2-40B4-BE49-F238E27FC236}">
                  <a16:creationId xmlns:a16="http://schemas.microsoft.com/office/drawing/2014/main" id="{ECF69C67-0CFA-3048-F60E-4412B36BCF10}"/>
                </a:ext>
              </a:extLst>
            </p:cNvPr>
            <p:cNvSpPr/>
            <p:nvPr/>
          </p:nvSpPr>
          <p:spPr>
            <a:xfrm>
              <a:off x="1446700" y="3024328"/>
              <a:ext cx="2951615" cy="144722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>
                  <a:shade val="1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50" name="Rectangle 1249">
              <a:extLst>
                <a:ext uri="{FF2B5EF4-FFF2-40B4-BE49-F238E27FC236}">
                  <a16:creationId xmlns:a16="http://schemas.microsoft.com/office/drawing/2014/main" id="{DBE12034-EFA0-5B8E-DB2D-081186B59882}"/>
                </a:ext>
              </a:extLst>
            </p:cNvPr>
            <p:cNvSpPr/>
            <p:nvPr/>
          </p:nvSpPr>
          <p:spPr>
            <a:xfrm rot="5400000">
              <a:off x="3545357" y="3843414"/>
              <a:ext cx="1774532" cy="104340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>
                  <a:shade val="1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51" name="Rectangle 1250">
              <a:extLst>
                <a:ext uri="{FF2B5EF4-FFF2-40B4-BE49-F238E27FC236}">
                  <a16:creationId xmlns:a16="http://schemas.microsoft.com/office/drawing/2014/main" id="{55C46EFA-3E44-9D2E-48B8-F1251A1BED97}"/>
                </a:ext>
              </a:extLst>
            </p:cNvPr>
            <p:cNvSpPr/>
            <p:nvPr/>
          </p:nvSpPr>
          <p:spPr>
            <a:xfrm rot="5400000">
              <a:off x="510405" y="3846488"/>
              <a:ext cx="1774532" cy="104340"/>
            </a:xfrm>
            <a:prstGeom prst="rect">
              <a:avLst/>
            </a:prstGeom>
            <a:solidFill>
              <a:sysClr val="windowText" lastClr="000000"/>
            </a:solidFill>
            <a:ln w="19050" cap="flat" cmpd="sng" algn="ctr">
              <a:solidFill>
                <a:sysClr val="windowText" lastClr="000000">
                  <a:shade val="1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1252" name="Group 1251">
              <a:extLst>
                <a:ext uri="{FF2B5EF4-FFF2-40B4-BE49-F238E27FC236}">
                  <a16:creationId xmlns:a16="http://schemas.microsoft.com/office/drawing/2014/main" id="{98A518BC-0895-95E1-D6F5-0F761F309592}"/>
                </a:ext>
              </a:extLst>
            </p:cNvPr>
            <p:cNvGrpSpPr/>
            <p:nvPr/>
          </p:nvGrpSpPr>
          <p:grpSpPr>
            <a:xfrm>
              <a:off x="1897652" y="3474010"/>
              <a:ext cx="2406882" cy="1179391"/>
              <a:chOff x="5078808" y="3277214"/>
              <a:chExt cx="2406882" cy="1179391"/>
            </a:xfrm>
          </p:grpSpPr>
          <p:cxnSp>
            <p:nvCxnSpPr>
              <p:cNvPr id="1254" name="Straight Connector 1253">
                <a:extLst>
                  <a:ext uri="{FF2B5EF4-FFF2-40B4-BE49-F238E27FC236}">
                    <a16:creationId xmlns:a16="http://schemas.microsoft.com/office/drawing/2014/main" id="{3A9D5E55-2F24-1539-C609-4C70EFFE547A}"/>
                  </a:ext>
                </a:extLst>
              </p:cNvPr>
              <p:cNvCxnSpPr/>
              <p:nvPr/>
            </p:nvCxnSpPr>
            <p:spPr>
              <a:xfrm flipH="1">
                <a:off x="7221901" y="3277214"/>
                <a:ext cx="263789" cy="1177119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55" name="Straight Connector 1254">
                <a:extLst>
                  <a:ext uri="{FF2B5EF4-FFF2-40B4-BE49-F238E27FC236}">
                    <a16:creationId xmlns:a16="http://schemas.microsoft.com/office/drawing/2014/main" id="{162A86AF-1914-0584-27A7-8AD1216E9C05}"/>
                  </a:ext>
                </a:extLst>
              </p:cNvPr>
              <p:cNvCxnSpPr/>
              <p:nvPr/>
            </p:nvCxnSpPr>
            <p:spPr>
              <a:xfrm flipH="1">
                <a:off x="6494023" y="3279486"/>
                <a:ext cx="263789" cy="1177119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56" name="Straight Connector 1255">
                <a:extLst>
                  <a:ext uri="{FF2B5EF4-FFF2-40B4-BE49-F238E27FC236}">
                    <a16:creationId xmlns:a16="http://schemas.microsoft.com/office/drawing/2014/main" id="{93D1FCCF-F852-55C5-4CAA-8434A3387876}"/>
                  </a:ext>
                </a:extLst>
              </p:cNvPr>
              <p:cNvCxnSpPr/>
              <p:nvPr/>
            </p:nvCxnSpPr>
            <p:spPr>
              <a:xfrm flipH="1">
                <a:off x="5802532" y="3277214"/>
                <a:ext cx="263789" cy="1177119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57" name="Straight Connector 1256">
                <a:extLst>
                  <a:ext uri="{FF2B5EF4-FFF2-40B4-BE49-F238E27FC236}">
                    <a16:creationId xmlns:a16="http://schemas.microsoft.com/office/drawing/2014/main" id="{3EFFD78A-0295-2AD2-52A9-F510ED649D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8808" y="3293134"/>
                <a:ext cx="282642" cy="1161199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pic>
          <p:nvPicPr>
            <p:cNvPr id="1253" name="Picture 6" descr="VIdeo record with tripod stand icon. Vector illustration VIdeo record with tripod stand icon. Vector illustration phone tripod stock illustrations">
              <a:extLst>
                <a:ext uri="{FF2B5EF4-FFF2-40B4-BE49-F238E27FC236}">
                  <a16:creationId xmlns:a16="http://schemas.microsoft.com/office/drawing/2014/main" id="{0195771F-2592-499C-4A05-DA3DF5D35B3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17" t="34720" r="53604" b="16862"/>
            <a:stretch>
              <a:fillRect/>
            </a:stretch>
          </p:blipFill>
          <p:spPr bwMode="auto">
            <a:xfrm>
              <a:off x="2551320" y="4526093"/>
              <a:ext cx="675037" cy="973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271" name="Table 1270">
            <a:extLst>
              <a:ext uri="{FF2B5EF4-FFF2-40B4-BE49-F238E27FC236}">
                <a16:creationId xmlns:a16="http://schemas.microsoft.com/office/drawing/2014/main" id="{9C9EF94C-BD69-038C-8E9C-B09B876AE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1726"/>
              </p:ext>
            </p:extLst>
          </p:nvPr>
        </p:nvGraphicFramePr>
        <p:xfrm>
          <a:off x="13811827" y="11088688"/>
          <a:ext cx="16401345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7115">
                  <a:extLst>
                    <a:ext uri="{9D8B030D-6E8A-4147-A177-3AD203B41FA5}">
                      <a16:colId xmlns:a16="http://schemas.microsoft.com/office/drawing/2014/main" val="4037390403"/>
                    </a:ext>
                  </a:extLst>
                </a:gridCol>
                <a:gridCol w="5467115">
                  <a:extLst>
                    <a:ext uri="{9D8B030D-6E8A-4147-A177-3AD203B41FA5}">
                      <a16:colId xmlns:a16="http://schemas.microsoft.com/office/drawing/2014/main" val="4228469245"/>
                    </a:ext>
                  </a:extLst>
                </a:gridCol>
                <a:gridCol w="5467115">
                  <a:extLst>
                    <a:ext uri="{9D8B030D-6E8A-4147-A177-3AD203B41FA5}">
                      <a16:colId xmlns:a16="http://schemas.microsoft.com/office/drawing/2014/main" val="556430792"/>
                    </a:ext>
                  </a:extLst>
                </a:gridCol>
              </a:tblGrid>
              <a:tr h="183882"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Design A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C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Design B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C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Design C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C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767624"/>
                  </a:ext>
                </a:extLst>
              </a:tr>
              <a:tr h="971439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Pros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Most control over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dimensions (portability)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Smaller water samples required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Pros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Most familiar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Cost effective (existing equipment)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Fewest modification and most robust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Pros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Removable modifications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Controls for the most variables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3000" b="0" dirty="0">
                          <a:solidFill>
                            <a:schemeClr val="dk1"/>
                          </a:solidFill>
                        </a:rPr>
                        <a:t>Strongest signal for mean-intensity turbidity </a:t>
                      </a:r>
                      <a:endParaRPr lang="en-US" sz="3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924084"/>
                  </a:ext>
                </a:extLst>
              </a:tr>
              <a:tr h="707998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Cons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Least robust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Unfamiliar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Poor mixing (manual)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Cons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Lighting issues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Camera misalignment (poor for model training)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Cons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Least portable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Modified to specific apparatus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750169"/>
                  </a:ext>
                </a:extLst>
              </a:tr>
              <a:tr h="312836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Worst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Middle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Best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27820"/>
                  </a:ext>
                </a:extLst>
              </a:tr>
            </a:tbl>
          </a:graphicData>
        </a:graphic>
      </p:graphicFrame>
      <p:sp>
        <p:nvSpPr>
          <p:cNvPr id="1272" name="Rectangle 1271">
            <a:extLst>
              <a:ext uri="{FF2B5EF4-FFF2-40B4-BE49-F238E27FC236}">
                <a16:creationId xmlns:a16="http://schemas.microsoft.com/office/drawing/2014/main" id="{DB9A13C7-BF7A-807D-A285-2B3B2FC8A3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20494" y="6153716"/>
            <a:ext cx="16514064" cy="685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1273" name="TextBox 1272">
            <a:extLst>
              <a:ext uri="{FF2B5EF4-FFF2-40B4-BE49-F238E27FC236}">
                <a16:creationId xmlns:a16="http://schemas.microsoft.com/office/drawing/2014/main" id="{2014B88B-1666-A6E3-7005-6F35868D8063}"/>
              </a:ext>
            </a:extLst>
          </p:cNvPr>
          <p:cNvSpPr txBox="1"/>
          <p:nvPr/>
        </p:nvSpPr>
        <p:spPr>
          <a:xfrm>
            <a:off x="16896215" y="6090925"/>
            <a:ext cx="102325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Concept Evaluation</a:t>
            </a:r>
          </a:p>
        </p:txBody>
      </p:sp>
      <p:sp>
        <p:nvSpPr>
          <p:cNvPr id="1274" name="Rectangle: Top Corners Rounded 1273">
            <a:extLst>
              <a:ext uri="{FF2B5EF4-FFF2-40B4-BE49-F238E27FC236}">
                <a16:creationId xmlns:a16="http://schemas.microsoft.com/office/drawing/2014/main" id="{0C99A16F-67AB-2EC0-B5F8-F9B82C89921C}"/>
              </a:ext>
            </a:extLst>
          </p:cNvPr>
          <p:cNvSpPr/>
          <p:nvPr/>
        </p:nvSpPr>
        <p:spPr>
          <a:xfrm>
            <a:off x="15894362" y="29472094"/>
            <a:ext cx="12236274" cy="605094"/>
          </a:xfrm>
          <a:prstGeom prst="round2SameRect">
            <a:avLst/>
          </a:prstGeom>
          <a:solidFill>
            <a:srgbClr val="7FCE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</a:rPr>
              <a:t>Computational &amp; Validation Methods</a:t>
            </a:r>
          </a:p>
        </p:txBody>
      </p:sp>
      <p:cxnSp>
        <p:nvCxnSpPr>
          <p:cNvPr id="1275" name="Straight Connector 1274">
            <a:extLst>
              <a:ext uri="{FF2B5EF4-FFF2-40B4-BE49-F238E27FC236}">
                <a16:creationId xmlns:a16="http://schemas.microsoft.com/office/drawing/2014/main" id="{87849763-15DC-F289-EF68-2A9A22391A4F}"/>
              </a:ext>
            </a:extLst>
          </p:cNvPr>
          <p:cNvCxnSpPr>
            <a:cxnSpLocks/>
          </p:cNvCxnSpPr>
          <p:nvPr/>
        </p:nvCxnSpPr>
        <p:spPr>
          <a:xfrm>
            <a:off x="14111527" y="30077188"/>
            <a:ext cx="15774047" cy="0"/>
          </a:xfrm>
          <a:prstGeom prst="line">
            <a:avLst/>
          </a:prstGeom>
          <a:ln>
            <a:solidFill>
              <a:srgbClr val="1635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6" name="Freeform: Shape 1275">
            <a:extLst>
              <a:ext uri="{FF2B5EF4-FFF2-40B4-BE49-F238E27FC236}">
                <a16:creationId xmlns:a16="http://schemas.microsoft.com/office/drawing/2014/main" id="{9E26667F-5087-5E52-B5FD-E280FD0D772C}"/>
              </a:ext>
            </a:extLst>
          </p:cNvPr>
          <p:cNvSpPr/>
          <p:nvPr/>
        </p:nvSpPr>
        <p:spPr>
          <a:xfrm>
            <a:off x="14125476" y="30077189"/>
            <a:ext cx="15774047" cy="1624566"/>
          </a:xfrm>
          <a:custGeom>
            <a:avLst/>
            <a:gdLst>
              <a:gd name="connsiteX0" fmla="*/ 0 w 16219348"/>
              <a:gd name="connsiteY0" fmla="*/ 0 h 1412893"/>
              <a:gd name="connsiteX1" fmla="*/ 16219348 w 16219348"/>
              <a:gd name="connsiteY1" fmla="*/ 0 h 1412893"/>
              <a:gd name="connsiteX2" fmla="*/ 16219348 w 16219348"/>
              <a:gd name="connsiteY2" fmla="*/ 1412893 h 1412893"/>
              <a:gd name="connsiteX3" fmla="*/ 0 w 16219348"/>
              <a:gd name="connsiteY3" fmla="*/ 1412893 h 1412893"/>
              <a:gd name="connsiteX4" fmla="*/ 0 w 16219348"/>
              <a:gd name="connsiteY4" fmla="*/ 0 h 1412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19348" h="1412893">
                <a:moveTo>
                  <a:pt x="0" y="0"/>
                </a:moveTo>
                <a:lnTo>
                  <a:pt x="16219348" y="0"/>
                </a:lnTo>
                <a:lnTo>
                  <a:pt x="16219348" y="1412893"/>
                </a:lnTo>
                <a:lnTo>
                  <a:pt x="0" y="141289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3825" tIns="123825" rIns="123825" bIns="123825" numCol="1" spcCol="1270" anchor="t" anchorCtr="0">
            <a:noAutofit/>
          </a:bodyPr>
          <a:lstStyle/>
          <a:p>
            <a:pPr lvl="1" algn="ctr" defTabSz="2266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3600" kern="1200" dirty="0"/>
              <a:t>Settling curves and clarity plots will be generated from 30 FPS video data with pixel intensity indicating settling rate. Consistent camera positioning and LED backlighting ensure reliable measurements</a:t>
            </a:r>
          </a:p>
          <a:p>
            <a:pPr lvl="1" algn="ctr" defTabSz="2266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US" sz="3600" kern="1200" dirty="0"/>
          </a:p>
        </p:txBody>
      </p:sp>
      <p:grpSp>
        <p:nvGrpSpPr>
          <p:cNvPr id="1152" name="Group 1151">
            <a:extLst>
              <a:ext uri="{FF2B5EF4-FFF2-40B4-BE49-F238E27FC236}">
                <a16:creationId xmlns:a16="http://schemas.microsoft.com/office/drawing/2014/main" id="{F8EDA540-9B29-348E-6D16-BCB163146491}"/>
              </a:ext>
            </a:extLst>
          </p:cNvPr>
          <p:cNvGrpSpPr/>
          <p:nvPr/>
        </p:nvGrpSpPr>
        <p:grpSpPr>
          <a:xfrm>
            <a:off x="19186574" y="6964249"/>
            <a:ext cx="5651850" cy="4064229"/>
            <a:chOff x="751156" y="349498"/>
            <a:chExt cx="3362180" cy="2254799"/>
          </a:xfrm>
        </p:grpSpPr>
        <p:sp>
          <p:nvSpPr>
            <p:cNvPr id="1153" name="Rectangle 1152">
              <a:extLst>
                <a:ext uri="{FF2B5EF4-FFF2-40B4-BE49-F238E27FC236}">
                  <a16:creationId xmlns:a16="http://schemas.microsoft.com/office/drawing/2014/main" id="{5FC655CD-DBCA-1FD5-5967-7AFB20A531A2}"/>
                </a:ext>
              </a:extLst>
            </p:cNvPr>
            <p:cNvSpPr/>
            <p:nvPr/>
          </p:nvSpPr>
          <p:spPr>
            <a:xfrm>
              <a:off x="937743" y="349498"/>
              <a:ext cx="3013773" cy="1561036"/>
            </a:xfrm>
            <a:prstGeom prst="rect">
              <a:avLst/>
            </a:prstGeom>
            <a:solidFill>
              <a:srgbClr val="E8E8E8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54" name="Rectangle 1153">
              <a:extLst>
                <a:ext uri="{FF2B5EF4-FFF2-40B4-BE49-F238E27FC236}">
                  <a16:creationId xmlns:a16="http://schemas.microsoft.com/office/drawing/2014/main" id="{1A31D41E-6D74-AEDD-362D-A4F63F38573B}"/>
                </a:ext>
              </a:extLst>
            </p:cNvPr>
            <p:cNvSpPr/>
            <p:nvPr/>
          </p:nvSpPr>
          <p:spPr>
            <a:xfrm>
              <a:off x="978759" y="1566939"/>
              <a:ext cx="2938871" cy="333925"/>
            </a:xfrm>
            <a:prstGeom prst="rect">
              <a:avLst/>
            </a:prstGeom>
            <a:gradFill flip="none" rotWithShape="1">
              <a:gsLst>
                <a:gs pos="0">
                  <a:sysClr val="window" lastClr="FFFFFF"/>
                </a:gs>
                <a:gs pos="46000">
                  <a:sysClr val="window" lastClr="FFFFFF">
                    <a:alpha val="80000"/>
                  </a:sysClr>
                </a:gs>
                <a:gs pos="100000">
                  <a:srgbClr val="F0EBC6"/>
                </a:gs>
              </a:gsLst>
              <a:path path="circle">
                <a:fillToRect l="50000" t="130000" r="50000" b="-30000"/>
              </a:path>
              <a:tileRect/>
            </a:gradFill>
            <a:ln w="19050" cap="flat" cmpd="sng" algn="ctr">
              <a:noFill/>
              <a:prstDash val="solid"/>
              <a:miter lim="800000"/>
            </a:ln>
            <a:effectLst>
              <a:glow rad="228600">
                <a:srgbClr val="F6F6C0">
                  <a:alpha val="40000"/>
                </a:srgbClr>
              </a:glo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55" name="Rectangle 1154">
              <a:extLst>
                <a:ext uri="{FF2B5EF4-FFF2-40B4-BE49-F238E27FC236}">
                  <a16:creationId xmlns:a16="http://schemas.microsoft.com/office/drawing/2014/main" id="{63085EDD-4AE5-757B-CAF1-11CB537DB771}"/>
                </a:ext>
              </a:extLst>
            </p:cNvPr>
            <p:cNvSpPr/>
            <p:nvPr/>
          </p:nvSpPr>
          <p:spPr>
            <a:xfrm>
              <a:off x="926722" y="486362"/>
              <a:ext cx="3024795" cy="253326"/>
            </a:xfrm>
            <a:prstGeom prst="rect">
              <a:avLst/>
            </a:prstGeom>
            <a:solidFill>
              <a:srgbClr val="E8E8E8">
                <a:lumMod val="75000"/>
              </a:srgb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1156" name="Group 1155">
              <a:extLst>
                <a:ext uri="{FF2B5EF4-FFF2-40B4-BE49-F238E27FC236}">
                  <a16:creationId xmlns:a16="http://schemas.microsoft.com/office/drawing/2014/main" id="{F9ED6790-E9AE-97D2-8DCF-BDF19A07FF65}"/>
                </a:ext>
              </a:extLst>
            </p:cNvPr>
            <p:cNvGrpSpPr/>
            <p:nvPr/>
          </p:nvGrpSpPr>
          <p:grpSpPr>
            <a:xfrm>
              <a:off x="1218744" y="472464"/>
              <a:ext cx="2416439" cy="1219900"/>
              <a:chOff x="1183634" y="698865"/>
              <a:chExt cx="2416439" cy="1219900"/>
            </a:xfrm>
          </p:grpSpPr>
          <p:grpSp>
            <p:nvGrpSpPr>
              <p:cNvPr id="1163" name="Group 1162">
                <a:extLst>
                  <a:ext uri="{FF2B5EF4-FFF2-40B4-BE49-F238E27FC236}">
                    <a16:creationId xmlns:a16="http://schemas.microsoft.com/office/drawing/2014/main" id="{4496FAFB-CA7C-AF01-3A67-26C25D60C5F4}"/>
                  </a:ext>
                </a:extLst>
              </p:cNvPr>
              <p:cNvGrpSpPr/>
              <p:nvPr/>
            </p:nvGrpSpPr>
            <p:grpSpPr>
              <a:xfrm>
                <a:off x="1183634" y="703485"/>
                <a:ext cx="294474" cy="1215280"/>
                <a:chOff x="749808" y="420624"/>
                <a:chExt cx="402336" cy="1623060"/>
              </a:xfrm>
            </p:grpSpPr>
            <p:cxnSp>
              <p:nvCxnSpPr>
                <p:cNvPr id="1199" name="Straight Connector 1198">
                  <a:extLst>
                    <a:ext uri="{FF2B5EF4-FFF2-40B4-BE49-F238E27FC236}">
                      <a16:creationId xmlns:a16="http://schemas.microsoft.com/office/drawing/2014/main" id="{2344445C-6C75-5577-60E5-34A15955A8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928" y="420624"/>
                  <a:ext cx="3048" cy="150876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E8E8E8">
                      <a:lumMod val="50000"/>
                    </a:srgbClr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203" name="Rectangle 1202">
                  <a:extLst>
                    <a:ext uri="{FF2B5EF4-FFF2-40B4-BE49-F238E27FC236}">
                      <a16:creationId xmlns:a16="http://schemas.microsoft.com/office/drawing/2014/main" id="{3C628C43-9F99-CD32-DCFF-8FDAE0DAF97F}"/>
                    </a:ext>
                  </a:extLst>
                </p:cNvPr>
                <p:cNvSpPr/>
                <p:nvPr/>
              </p:nvSpPr>
              <p:spPr>
                <a:xfrm>
                  <a:off x="749808" y="1815084"/>
                  <a:ext cx="402336" cy="228600"/>
                </a:xfrm>
                <a:prstGeom prst="rect">
                  <a:avLst/>
                </a:prstGeom>
                <a:solidFill>
                  <a:srgbClr val="E8E8E8">
                    <a:lumMod val="75000"/>
                  </a:srgbClr>
                </a:solidFill>
                <a:ln w="19050" cap="flat" cmpd="sng" algn="ctr">
                  <a:solidFill>
                    <a:srgbClr val="E8E8E8">
                      <a:lumMod val="7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64" name="Group 1163">
                <a:extLst>
                  <a:ext uri="{FF2B5EF4-FFF2-40B4-BE49-F238E27FC236}">
                    <a16:creationId xmlns:a16="http://schemas.microsoft.com/office/drawing/2014/main" id="{87B35226-F5C1-5432-E421-86D60C76CA80}"/>
                  </a:ext>
                </a:extLst>
              </p:cNvPr>
              <p:cNvGrpSpPr/>
              <p:nvPr/>
            </p:nvGrpSpPr>
            <p:grpSpPr>
              <a:xfrm>
                <a:off x="1900153" y="712763"/>
                <a:ext cx="294474" cy="1184265"/>
                <a:chOff x="749808" y="462046"/>
                <a:chExt cx="402336" cy="1581638"/>
              </a:xfrm>
            </p:grpSpPr>
            <p:cxnSp>
              <p:nvCxnSpPr>
                <p:cNvPr id="1197" name="Straight Connector 1196">
                  <a:extLst>
                    <a:ext uri="{FF2B5EF4-FFF2-40B4-BE49-F238E27FC236}">
                      <a16:creationId xmlns:a16="http://schemas.microsoft.com/office/drawing/2014/main" id="{21973F82-4825-E196-ED7A-01A99F3B32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0976" y="462046"/>
                  <a:ext cx="0" cy="1467339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E8E8E8">
                      <a:lumMod val="50000"/>
                    </a:srgbClr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198" name="Rectangle 1197">
                  <a:extLst>
                    <a:ext uri="{FF2B5EF4-FFF2-40B4-BE49-F238E27FC236}">
                      <a16:creationId xmlns:a16="http://schemas.microsoft.com/office/drawing/2014/main" id="{27FB2637-C8D7-2D3E-D640-741688219770}"/>
                    </a:ext>
                  </a:extLst>
                </p:cNvPr>
                <p:cNvSpPr/>
                <p:nvPr/>
              </p:nvSpPr>
              <p:spPr>
                <a:xfrm>
                  <a:off x="749808" y="1815084"/>
                  <a:ext cx="402336" cy="228600"/>
                </a:xfrm>
                <a:prstGeom prst="rect">
                  <a:avLst/>
                </a:prstGeom>
                <a:solidFill>
                  <a:srgbClr val="E8E8E8">
                    <a:lumMod val="75000"/>
                  </a:srgbClr>
                </a:solidFill>
                <a:ln w="19050" cap="flat" cmpd="sng" algn="ctr">
                  <a:solidFill>
                    <a:srgbClr val="E8E8E8">
                      <a:lumMod val="7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65" name="Group 1164">
                <a:extLst>
                  <a:ext uri="{FF2B5EF4-FFF2-40B4-BE49-F238E27FC236}">
                    <a16:creationId xmlns:a16="http://schemas.microsoft.com/office/drawing/2014/main" id="{FF3E0128-791A-A5E7-E531-C492D8A00AF6}"/>
                  </a:ext>
                </a:extLst>
              </p:cNvPr>
              <p:cNvGrpSpPr/>
              <p:nvPr/>
            </p:nvGrpSpPr>
            <p:grpSpPr>
              <a:xfrm>
                <a:off x="3305599" y="698865"/>
                <a:ext cx="294474" cy="1215280"/>
                <a:chOff x="749808" y="420624"/>
                <a:chExt cx="402336" cy="1623060"/>
              </a:xfrm>
            </p:grpSpPr>
            <p:cxnSp>
              <p:nvCxnSpPr>
                <p:cNvPr id="1195" name="Straight Connector 1194">
                  <a:extLst>
                    <a:ext uri="{FF2B5EF4-FFF2-40B4-BE49-F238E27FC236}">
                      <a16:creationId xmlns:a16="http://schemas.microsoft.com/office/drawing/2014/main" id="{2E2AAFC6-242C-A357-9CAA-614A5EC37E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928" y="420624"/>
                  <a:ext cx="3048" cy="150876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E8E8E8">
                      <a:lumMod val="50000"/>
                    </a:srgbClr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196" name="Rectangle 1195">
                  <a:extLst>
                    <a:ext uri="{FF2B5EF4-FFF2-40B4-BE49-F238E27FC236}">
                      <a16:creationId xmlns:a16="http://schemas.microsoft.com/office/drawing/2014/main" id="{DBF9E839-8928-A89D-AB0D-259BBA4F149A}"/>
                    </a:ext>
                  </a:extLst>
                </p:cNvPr>
                <p:cNvSpPr/>
                <p:nvPr/>
              </p:nvSpPr>
              <p:spPr>
                <a:xfrm>
                  <a:off x="749808" y="1815084"/>
                  <a:ext cx="402336" cy="228600"/>
                </a:xfrm>
                <a:prstGeom prst="rect">
                  <a:avLst/>
                </a:prstGeom>
                <a:solidFill>
                  <a:srgbClr val="E8E8E8">
                    <a:lumMod val="75000"/>
                  </a:srgbClr>
                </a:solidFill>
                <a:ln w="19050" cap="flat" cmpd="sng" algn="ctr">
                  <a:solidFill>
                    <a:srgbClr val="E8E8E8">
                      <a:lumMod val="7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66" name="Group 1165">
                <a:extLst>
                  <a:ext uri="{FF2B5EF4-FFF2-40B4-BE49-F238E27FC236}">
                    <a16:creationId xmlns:a16="http://schemas.microsoft.com/office/drawing/2014/main" id="{F2443413-0B53-E842-782C-5FC9D8F333C8}"/>
                  </a:ext>
                </a:extLst>
              </p:cNvPr>
              <p:cNvGrpSpPr/>
              <p:nvPr/>
            </p:nvGrpSpPr>
            <p:grpSpPr>
              <a:xfrm>
                <a:off x="2587261" y="698865"/>
                <a:ext cx="294474" cy="1215280"/>
                <a:chOff x="749808" y="420624"/>
                <a:chExt cx="402336" cy="1623060"/>
              </a:xfrm>
            </p:grpSpPr>
            <p:cxnSp>
              <p:nvCxnSpPr>
                <p:cNvPr id="1167" name="Straight Connector 1166">
                  <a:extLst>
                    <a:ext uri="{FF2B5EF4-FFF2-40B4-BE49-F238E27FC236}">
                      <a16:creationId xmlns:a16="http://schemas.microsoft.com/office/drawing/2014/main" id="{7301CCB2-1D88-497D-7777-3401D5A9D9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928" y="420624"/>
                  <a:ext cx="3048" cy="150876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E8E8E8">
                      <a:lumMod val="50000"/>
                    </a:srgbClr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168" name="Rectangle 1167">
                  <a:extLst>
                    <a:ext uri="{FF2B5EF4-FFF2-40B4-BE49-F238E27FC236}">
                      <a16:creationId xmlns:a16="http://schemas.microsoft.com/office/drawing/2014/main" id="{B14F3711-677B-1826-49AD-BD3ED7F9D9BF}"/>
                    </a:ext>
                  </a:extLst>
                </p:cNvPr>
                <p:cNvSpPr/>
                <p:nvPr/>
              </p:nvSpPr>
              <p:spPr>
                <a:xfrm>
                  <a:off x="749808" y="1815084"/>
                  <a:ext cx="402336" cy="228600"/>
                </a:xfrm>
                <a:prstGeom prst="rect">
                  <a:avLst/>
                </a:prstGeom>
                <a:solidFill>
                  <a:srgbClr val="E8E8E8">
                    <a:lumMod val="75000"/>
                  </a:srgbClr>
                </a:solidFill>
                <a:ln w="19050" cap="flat" cmpd="sng" algn="ctr">
                  <a:solidFill>
                    <a:srgbClr val="E8E8E8">
                      <a:lumMod val="7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57" name="Group 1156">
              <a:extLst>
                <a:ext uri="{FF2B5EF4-FFF2-40B4-BE49-F238E27FC236}">
                  <a16:creationId xmlns:a16="http://schemas.microsoft.com/office/drawing/2014/main" id="{F6DCAB99-8772-6C89-D1C7-F96992B95870}"/>
                </a:ext>
              </a:extLst>
            </p:cNvPr>
            <p:cNvGrpSpPr/>
            <p:nvPr/>
          </p:nvGrpSpPr>
          <p:grpSpPr>
            <a:xfrm>
              <a:off x="751156" y="1052171"/>
              <a:ext cx="3362180" cy="840075"/>
              <a:chOff x="736518" y="1278572"/>
              <a:chExt cx="3362180" cy="840075"/>
            </a:xfrm>
          </p:grpSpPr>
          <p:pic>
            <p:nvPicPr>
              <p:cNvPr id="1159" name="Graphic 1158" descr="Beaker outline">
                <a:extLst>
                  <a:ext uri="{FF2B5EF4-FFF2-40B4-BE49-F238E27FC236}">
                    <a16:creationId xmlns:a16="http://schemas.microsoft.com/office/drawing/2014/main" id="{E0E663E0-44A9-CFF5-DBDD-3B878E30C0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 t="32136"/>
              <a:stretch>
                <a:fillRect/>
              </a:stretch>
            </p:blipFill>
            <p:spPr>
              <a:xfrm>
                <a:off x="736518" y="1282714"/>
                <a:ext cx="1227509" cy="833036"/>
              </a:xfrm>
              <a:prstGeom prst="rect">
                <a:avLst/>
              </a:prstGeom>
            </p:spPr>
          </p:pic>
          <p:pic>
            <p:nvPicPr>
              <p:cNvPr id="1160" name="Graphic 1159" descr="Beaker outline">
                <a:extLst>
                  <a:ext uri="{FF2B5EF4-FFF2-40B4-BE49-F238E27FC236}">
                    <a16:creationId xmlns:a16="http://schemas.microsoft.com/office/drawing/2014/main" id="{2D00306C-E056-322D-8DB0-AA43DAB97C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 t="32136"/>
              <a:stretch>
                <a:fillRect/>
              </a:stretch>
            </p:blipFill>
            <p:spPr>
              <a:xfrm>
                <a:off x="1446700" y="1278572"/>
                <a:ext cx="1227509" cy="833036"/>
              </a:xfrm>
              <a:prstGeom prst="rect">
                <a:avLst/>
              </a:prstGeom>
            </p:spPr>
          </p:pic>
          <p:pic>
            <p:nvPicPr>
              <p:cNvPr id="1161" name="Picture 1160">
                <a:extLst>
                  <a:ext uri="{FF2B5EF4-FFF2-40B4-BE49-F238E27FC236}">
                    <a16:creationId xmlns:a16="http://schemas.microsoft.com/office/drawing/2014/main" id="{64BF9FE7-9237-316F-BB84-BEC3830C02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146518" y="1283423"/>
                <a:ext cx="1225402" cy="835224"/>
              </a:xfrm>
              <a:prstGeom prst="rect">
                <a:avLst/>
              </a:prstGeom>
            </p:spPr>
          </p:pic>
          <p:pic>
            <p:nvPicPr>
              <p:cNvPr id="1162" name="Picture 1161">
                <a:extLst>
                  <a:ext uri="{FF2B5EF4-FFF2-40B4-BE49-F238E27FC236}">
                    <a16:creationId xmlns:a16="http://schemas.microsoft.com/office/drawing/2014/main" id="{872354DC-7DE3-6004-F2E8-BE5843E6FC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873296" y="1280818"/>
                <a:ext cx="1225402" cy="835224"/>
              </a:xfrm>
              <a:prstGeom prst="rect">
                <a:avLst/>
              </a:prstGeom>
            </p:spPr>
          </p:pic>
        </p:grpSp>
        <p:pic>
          <p:nvPicPr>
            <p:cNvPr id="1158" name="Picture 6" descr="VIdeo record with tripod stand icon. Vector illustration VIdeo record with tripod stand icon. Vector illustration phone tripod stock illustrations">
              <a:extLst>
                <a:ext uri="{FF2B5EF4-FFF2-40B4-BE49-F238E27FC236}">
                  <a16:creationId xmlns:a16="http://schemas.microsoft.com/office/drawing/2014/main" id="{A76EAC7D-B693-EA6B-3E63-94AFE2D36C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17" t="34720" r="53604" b="16862"/>
            <a:stretch>
              <a:fillRect/>
            </a:stretch>
          </p:blipFill>
          <p:spPr bwMode="auto">
            <a:xfrm>
              <a:off x="1994942" y="1630784"/>
              <a:ext cx="675037" cy="973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04" name="Group 1203">
            <a:extLst>
              <a:ext uri="{FF2B5EF4-FFF2-40B4-BE49-F238E27FC236}">
                <a16:creationId xmlns:a16="http://schemas.microsoft.com/office/drawing/2014/main" id="{FBB79669-884E-BF2F-635A-C3A628E000F5}"/>
              </a:ext>
            </a:extLst>
          </p:cNvPr>
          <p:cNvGrpSpPr/>
          <p:nvPr/>
        </p:nvGrpSpPr>
        <p:grpSpPr>
          <a:xfrm>
            <a:off x="24669080" y="6964249"/>
            <a:ext cx="5554525" cy="3295303"/>
            <a:chOff x="4172107" y="452334"/>
            <a:chExt cx="3367204" cy="2084901"/>
          </a:xfrm>
        </p:grpSpPr>
        <p:grpSp>
          <p:nvGrpSpPr>
            <p:cNvPr id="1205" name="Group 1204">
              <a:extLst>
                <a:ext uri="{FF2B5EF4-FFF2-40B4-BE49-F238E27FC236}">
                  <a16:creationId xmlns:a16="http://schemas.microsoft.com/office/drawing/2014/main" id="{F026F915-AD7E-0C46-18CC-1F17B4415D7C}"/>
                </a:ext>
              </a:extLst>
            </p:cNvPr>
            <p:cNvGrpSpPr/>
            <p:nvPr/>
          </p:nvGrpSpPr>
          <p:grpSpPr>
            <a:xfrm>
              <a:off x="4337125" y="452334"/>
              <a:ext cx="3038439" cy="1935999"/>
              <a:chOff x="4337125" y="452334"/>
              <a:chExt cx="3038439" cy="1935999"/>
            </a:xfrm>
          </p:grpSpPr>
          <p:sp>
            <p:nvSpPr>
              <p:cNvPr id="1242" name="Rectangle 1241">
                <a:extLst>
                  <a:ext uri="{FF2B5EF4-FFF2-40B4-BE49-F238E27FC236}">
                    <a16:creationId xmlns:a16="http://schemas.microsoft.com/office/drawing/2014/main" id="{8744066F-6F09-FBDE-F7BD-0AA2E503F947}"/>
                  </a:ext>
                </a:extLst>
              </p:cNvPr>
              <p:cNvSpPr/>
              <p:nvPr/>
            </p:nvSpPr>
            <p:spPr>
              <a:xfrm>
                <a:off x="4337125" y="452334"/>
                <a:ext cx="3038439" cy="1797089"/>
              </a:xfrm>
              <a:prstGeom prst="rect">
                <a:avLst/>
              </a:prstGeom>
              <a:solidFill>
                <a:srgbClr val="E8E8E8"/>
              </a:solidFill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43" name="Rectangle 1242">
                <a:extLst>
                  <a:ext uri="{FF2B5EF4-FFF2-40B4-BE49-F238E27FC236}">
                    <a16:creationId xmlns:a16="http://schemas.microsoft.com/office/drawing/2014/main" id="{4B23F74D-8F26-EBB1-767D-B87733A94569}"/>
                  </a:ext>
                </a:extLst>
              </p:cNvPr>
              <p:cNvSpPr/>
              <p:nvPr/>
            </p:nvSpPr>
            <p:spPr>
              <a:xfrm rot="6372118" flipH="1">
                <a:off x="5776546" y="2304160"/>
                <a:ext cx="45719" cy="122627"/>
              </a:xfrm>
              <a:prstGeom prst="rect">
                <a:avLst/>
              </a:prstGeom>
              <a:solidFill>
                <a:sysClr val="windowText" lastClr="000000"/>
              </a:solidFill>
              <a:ln w="19050" cap="flat" cmpd="sng" algn="ctr">
                <a:solidFill>
                  <a:sysClr val="windowText" lastClr="000000">
                    <a:shade val="1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44" name="Rectangle 1243">
                <a:extLst>
                  <a:ext uri="{FF2B5EF4-FFF2-40B4-BE49-F238E27FC236}">
                    <a16:creationId xmlns:a16="http://schemas.microsoft.com/office/drawing/2014/main" id="{B8A03898-C4A4-BD8B-1833-0AEAEE0F9A51}"/>
                  </a:ext>
                </a:extLst>
              </p:cNvPr>
              <p:cNvSpPr/>
              <p:nvPr/>
            </p:nvSpPr>
            <p:spPr>
              <a:xfrm rot="16200000" flipH="1">
                <a:off x="5804110" y="2004923"/>
                <a:ext cx="45719" cy="392076"/>
              </a:xfrm>
              <a:prstGeom prst="rect">
                <a:avLst/>
              </a:prstGeom>
              <a:solidFill>
                <a:sysClr val="windowText" lastClr="000000"/>
              </a:solidFill>
              <a:ln w="19050" cap="flat" cmpd="sng" algn="ctr">
                <a:solidFill>
                  <a:sysClr val="windowText" lastClr="000000">
                    <a:shade val="1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06" name="Group 1205">
              <a:extLst>
                <a:ext uri="{FF2B5EF4-FFF2-40B4-BE49-F238E27FC236}">
                  <a16:creationId xmlns:a16="http://schemas.microsoft.com/office/drawing/2014/main" id="{B7834696-3FF1-326B-03D2-3EF816ECD9AE}"/>
                </a:ext>
              </a:extLst>
            </p:cNvPr>
            <p:cNvGrpSpPr/>
            <p:nvPr/>
          </p:nvGrpSpPr>
          <p:grpSpPr>
            <a:xfrm>
              <a:off x="4172107" y="609593"/>
              <a:ext cx="3367204" cy="1927642"/>
              <a:chOff x="4171627" y="619530"/>
              <a:chExt cx="3367204" cy="1927642"/>
            </a:xfrm>
          </p:grpSpPr>
          <p:sp>
            <p:nvSpPr>
              <p:cNvPr id="1207" name="Rectangle 1206">
                <a:extLst>
                  <a:ext uri="{FF2B5EF4-FFF2-40B4-BE49-F238E27FC236}">
                    <a16:creationId xmlns:a16="http://schemas.microsoft.com/office/drawing/2014/main" id="{6E0DE22A-3FC8-AF2D-FB9B-179B213B42A9}"/>
                  </a:ext>
                </a:extLst>
              </p:cNvPr>
              <p:cNvSpPr/>
              <p:nvPr/>
            </p:nvSpPr>
            <p:spPr>
              <a:xfrm rot="10800000" flipH="1">
                <a:off x="5816723" y="2176663"/>
                <a:ext cx="51700" cy="370509"/>
              </a:xfrm>
              <a:prstGeom prst="rect">
                <a:avLst/>
              </a:prstGeom>
              <a:solidFill>
                <a:sysClr val="windowText" lastClr="000000"/>
              </a:solidFill>
              <a:ln w="19050" cap="flat" cmpd="sng" algn="ctr">
                <a:solidFill>
                  <a:sysClr val="windowText" lastClr="000000">
                    <a:shade val="1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08" name="Rectangle 1207">
                <a:extLst>
                  <a:ext uri="{FF2B5EF4-FFF2-40B4-BE49-F238E27FC236}">
                    <a16:creationId xmlns:a16="http://schemas.microsoft.com/office/drawing/2014/main" id="{5435D30E-C0E7-C8D7-215B-F73285AAD18C}"/>
                  </a:ext>
                </a:extLst>
              </p:cNvPr>
              <p:cNvSpPr/>
              <p:nvPr/>
            </p:nvSpPr>
            <p:spPr>
              <a:xfrm rot="16200000" flipH="1">
                <a:off x="5784614" y="2099365"/>
                <a:ext cx="45719" cy="392076"/>
              </a:xfrm>
              <a:prstGeom prst="rect">
                <a:avLst/>
              </a:prstGeom>
              <a:solidFill>
                <a:sysClr val="windowText" lastClr="000000"/>
              </a:solidFill>
              <a:ln w="19050" cap="flat" cmpd="sng" algn="ctr">
                <a:solidFill>
                  <a:sysClr val="windowText" lastClr="000000">
                    <a:shade val="1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1209" name="Group 1208">
                <a:extLst>
                  <a:ext uri="{FF2B5EF4-FFF2-40B4-BE49-F238E27FC236}">
                    <a16:creationId xmlns:a16="http://schemas.microsoft.com/office/drawing/2014/main" id="{576E70B9-23A3-8A0C-D5D6-1EF4C2FE3AA4}"/>
                  </a:ext>
                </a:extLst>
              </p:cNvPr>
              <p:cNvGrpSpPr/>
              <p:nvPr/>
            </p:nvGrpSpPr>
            <p:grpSpPr>
              <a:xfrm>
                <a:off x="4337125" y="619530"/>
                <a:ext cx="3036209" cy="1625295"/>
                <a:chOff x="4337125" y="619530"/>
                <a:chExt cx="3036209" cy="1625295"/>
              </a:xfrm>
            </p:grpSpPr>
            <p:grpSp>
              <p:nvGrpSpPr>
                <p:cNvPr id="1217" name="Group 1216">
                  <a:extLst>
                    <a:ext uri="{FF2B5EF4-FFF2-40B4-BE49-F238E27FC236}">
                      <a16:creationId xmlns:a16="http://schemas.microsoft.com/office/drawing/2014/main" id="{85872915-67B6-B229-354F-F7FB5B986E1F}"/>
                    </a:ext>
                  </a:extLst>
                </p:cNvPr>
                <p:cNvGrpSpPr/>
                <p:nvPr/>
              </p:nvGrpSpPr>
              <p:grpSpPr>
                <a:xfrm>
                  <a:off x="4358589" y="1450107"/>
                  <a:ext cx="2993473" cy="499591"/>
                  <a:chOff x="4358589" y="1450107"/>
                  <a:chExt cx="2993473" cy="499591"/>
                </a:xfrm>
              </p:grpSpPr>
              <p:sp>
                <p:nvSpPr>
                  <p:cNvPr id="1240" name="Rectangle 1239">
                    <a:extLst>
                      <a:ext uri="{FF2B5EF4-FFF2-40B4-BE49-F238E27FC236}">
                        <a16:creationId xmlns:a16="http://schemas.microsoft.com/office/drawing/2014/main" id="{94FD88A2-15C0-6642-54A9-D3BEF6252291}"/>
                      </a:ext>
                    </a:extLst>
                  </p:cNvPr>
                  <p:cNvSpPr/>
                  <p:nvPr/>
                </p:nvSpPr>
                <p:spPr>
                  <a:xfrm>
                    <a:off x="4358589" y="1450108"/>
                    <a:ext cx="1488738" cy="499590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ysClr val="window" lastClr="FFFFFF"/>
                      </a:gs>
                      <a:gs pos="23000">
                        <a:sysClr val="window" lastClr="FFFFFF"/>
                      </a:gs>
                      <a:gs pos="69000">
                        <a:srgbClr val="F6F6C0"/>
                      </a:gs>
                      <a:gs pos="97000">
                        <a:srgbClr val="F6F6C0"/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19050" cap="flat" cmpd="sng" algn="ctr">
                    <a:noFill/>
                    <a:prstDash val="solid"/>
                    <a:miter lim="800000"/>
                  </a:ln>
                  <a:effectLst>
                    <a:glow rad="228600">
                      <a:srgbClr val="F6F6C0">
                        <a:alpha val="40000"/>
                      </a:srgbClr>
                    </a:glo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41" name="Rectangle 1240">
                    <a:extLst>
                      <a:ext uri="{FF2B5EF4-FFF2-40B4-BE49-F238E27FC236}">
                        <a16:creationId xmlns:a16="http://schemas.microsoft.com/office/drawing/2014/main" id="{7C677486-7046-371C-2DCD-53674CB206B3}"/>
                      </a:ext>
                    </a:extLst>
                  </p:cNvPr>
                  <p:cNvSpPr/>
                  <p:nvPr/>
                </p:nvSpPr>
                <p:spPr>
                  <a:xfrm>
                    <a:off x="5868423" y="1450107"/>
                    <a:ext cx="1483639" cy="499591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ysClr val="window" lastClr="FFFFFF"/>
                      </a:gs>
                      <a:gs pos="23000">
                        <a:sysClr val="window" lastClr="FFFFFF"/>
                      </a:gs>
                      <a:gs pos="69000">
                        <a:srgbClr val="F6F6C0"/>
                      </a:gs>
                      <a:gs pos="97000">
                        <a:srgbClr val="F6F6C0"/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19050" cap="flat" cmpd="sng" algn="ctr">
                    <a:noFill/>
                    <a:prstDash val="solid"/>
                    <a:miter lim="800000"/>
                  </a:ln>
                  <a:effectLst>
                    <a:glow rad="228600">
                      <a:srgbClr val="F6F6C0">
                        <a:alpha val="40000"/>
                      </a:srgbClr>
                    </a:glo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218" name="Rectangle 1217">
                  <a:extLst>
                    <a:ext uri="{FF2B5EF4-FFF2-40B4-BE49-F238E27FC236}">
                      <a16:creationId xmlns:a16="http://schemas.microsoft.com/office/drawing/2014/main" id="{350130B1-ECF5-651C-670D-25DB3AC50CE7}"/>
                    </a:ext>
                  </a:extLst>
                </p:cNvPr>
                <p:cNvSpPr/>
                <p:nvPr/>
              </p:nvSpPr>
              <p:spPr>
                <a:xfrm>
                  <a:off x="4337125" y="619530"/>
                  <a:ext cx="3036208" cy="291077"/>
                </a:xfrm>
                <a:prstGeom prst="rect">
                  <a:avLst/>
                </a:prstGeom>
                <a:solidFill>
                  <a:srgbClr val="E8E8E8">
                    <a:lumMod val="75000"/>
                  </a:srgbClr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219" name="Group 1218">
                  <a:extLst>
                    <a:ext uri="{FF2B5EF4-FFF2-40B4-BE49-F238E27FC236}">
                      <a16:creationId xmlns:a16="http://schemas.microsoft.com/office/drawing/2014/main" id="{CE7D3C23-ACB6-9B5B-C2CF-7E202E7D9244}"/>
                    </a:ext>
                  </a:extLst>
                </p:cNvPr>
                <p:cNvGrpSpPr/>
                <p:nvPr/>
              </p:nvGrpSpPr>
              <p:grpSpPr>
                <a:xfrm>
                  <a:off x="4649526" y="619530"/>
                  <a:ext cx="2416439" cy="1288800"/>
                  <a:chOff x="1183634" y="739498"/>
                  <a:chExt cx="2416439" cy="1179267"/>
                </a:xfrm>
              </p:grpSpPr>
              <p:grpSp>
                <p:nvGrpSpPr>
                  <p:cNvPr id="1228" name="Group 1227">
                    <a:extLst>
                      <a:ext uri="{FF2B5EF4-FFF2-40B4-BE49-F238E27FC236}">
                        <a16:creationId xmlns:a16="http://schemas.microsoft.com/office/drawing/2014/main" id="{02B41130-5411-E9D4-A3F2-D8C06BD54E05}"/>
                      </a:ext>
                    </a:extLst>
                  </p:cNvPr>
                  <p:cNvGrpSpPr/>
                  <p:nvPr/>
                </p:nvGrpSpPr>
                <p:grpSpPr>
                  <a:xfrm>
                    <a:off x="1183634" y="739498"/>
                    <a:ext cx="294474" cy="1179267"/>
                    <a:chOff x="749808" y="468721"/>
                    <a:chExt cx="402336" cy="1574963"/>
                  </a:xfrm>
                </p:grpSpPr>
                <p:cxnSp>
                  <p:nvCxnSpPr>
                    <p:cNvPr id="1238" name="Straight Connector 1237">
                      <a:extLst>
                        <a:ext uri="{FF2B5EF4-FFF2-40B4-BE49-F238E27FC236}">
                          <a16:creationId xmlns:a16="http://schemas.microsoft.com/office/drawing/2014/main" id="{4E8473D0-7B8D-4C14-E677-C2579E1EF23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50976" y="468721"/>
                      <a:ext cx="0" cy="1460663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rgbClr val="E8E8E8">
                          <a:lumMod val="50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</p:cxnSp>
                <p:sp>
                  <p:nvSpPr>
                    <p:cNvPr id="1239" name="Rectangle 1238">
                      <a:extLst>
                        <a:ext uri="{FF2B5EF4-FFF2-40B4-BE49-F238E27FC236}">
                          <a16:creationId xmlns:a16="http://schemas.microsoft.com/office/drawing/2014/main" id="{905C070C-9D0D-88DE-1A70-991B57CC76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808" y="1815084"/>
                      <a:ext cx="402336" cy="228600"/>
                    </a:xfrm>
                    <a:prstGeom prst="rect">
                      <a:avLst/>
                    </a:prstGeom>
                    <a:solidFill>
                      <a:srgbClr val="E8E8E8">
                        <a:lumMod val="75000"/>
                      </a:srgbClr>
                    </a:solidFill>
                    <a:ln w="19050" cap="flat" cmpd="sng" algn="ctr">
                      <a:solidFill>
                        <a:srgbClr val="E8E8E8">
                          <a:lumMod val="7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229" name="Group 1228">
                    <a:extLst>
                      <a:ext uri="{FF2B5EF4-FFF2-40B4-BE49-F238E27FC236}">
                        <a16:creationId xmlns:a16="http://schemas.microsoft.com/office/drawing/2014/main" id="{2D2DB48D-8120-28A0-EFF0-144D6C85816F}"/>
                      </a:ext>
                    </a:extLst>
                  </p:cNvPr>
                  <p:cNvGrpSpPr/>
                  <p:nvPr/>
                </p:nvGrpSpPr>
                <p:grpSpPr>
                  <a:xfrm>
                    <a:off x="1900153" y="739498"/>
                    <a:ext cx="294474" cy="1157530"/>
                    <a:chOff x="749808" y="497752"/>
                    <a:chExt cx="402336" cy="1545932"/>
                  </a:xfrm>
                </p:grpSpPr>
                <p:cxnSp>
                  <p:nvCxnSpPr>
                    <p:cNvPr id="1236" name="Straight Connector 1235">
                      <a:extLst>
                        <a:ext uri="{FF2B5EF4-FFF2-40B4-BE49-F238E27FC236}">
                          <a16:creationId xmlns:a16="http://schemas.microsoft.com/office/drawing/2014/main" id="{279A98A1-D73C-61AD-2944-7E2A045C1D0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50976" y="497752"/>
                      <a:ext cx="0" cy="1431632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rgbClr val="E8E8E8">
                          <a:lumMod val="50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</p:cxnSp>
                <p:sp>
                  <p:nvSpPr>
                    <p:cNvPr id="1237" name="Rectangle 1236">
                      <a:extLst>
                        <a:ext uri="{FF2B5EF4-FFF2-40B4-BE49-F238E27FC236}">
                          <a16:creationId xmlns:a16="http://schemas.microsoft.com/office/drawing/2014/main" id="{44E6104B-8160-37C6-0C1D-D5B4512F33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808" y="1815084"/>
                      <a:ext cx="402336" cy="228600"/>
                    </a:xfrm>
                    <a:prstGeom prst="rect">
                      <a:avLst/>
                    </a:prstGeom>
                    <a:solidFill>
                      <a:srgbClr val="E8E8E8">
                        <a:lumMod val="75000"/>
                      </a:srgbClr>
                    </a:solidFill>
                    <a:ln w="19050" cap="flat" cmpd="sng" algn="ctr">
                      <a:solidFill>
                        <a:srgbClr val="E8E8E8">
                          <a:lumMod val="7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230" name="Group 1229">
                    <a:extLst>
                      <a:ext uri="{FF2B5EF4-FFF2-40B4-BE49-F238E27FC236}">
                        <a16:creationId xmlns:a16="http://schemas.microsoft.com/office/drawing/2014/main" id="{504B743D-8A0B-CA89-8717-DF4F94EFB916}"/>
                      </a:ext>
                    </a:extLst>
                  </p:cNvPr>
                  <p:cNvGrpSpPr/>
                  <p:nvPr/>
                </p:nvGrpSpPr>
                <p:grpSpPr>
                  <a:xfrm>
                    <a:off x="3305599" y="739498"/>
                    <a:ext cx="294474" cy="1174647"/>
                    <a:chOff x="749808" y="474891"/>
                    <a:chExt cx="402336" cy="1568793"/>
                  </a:xfrm>
                </p:grpSpPr>
                <p:cxnSp>
                  <p:nvCxnSpPr>
                    <p:cNvPr id="1234" name="Straight Connector 1233">
                      <a:extLst>
                        <a:ext uri="{FF2B5EF4-FFF2-40B4-BE49-F238E27FC236}">
                          <a16:creationId xmlns:a16="http://schemas.microsoft.com/office/drawing/2014/main" id="{6C974A56-4763-269A-1D5D-49F282DA145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50976" y="474891"/>
                      <a:ext cx="0" cy="1454493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rgbClr val="E8E8E8">
                          <a:lumMod val="50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</p:cxnSp>
                <p:sp>
                  <p:nvSpPr>
                    <p:cNvPr id="1235" name="Rectangle 1234">
                      <a:extLst>
                        <a:ext uri="{FF2B5EF4-FFF2-40B4-BE49-F238E27FC236}">
                          <a16:creationId xmlns:a16="http://schemas.microsoft.com/office/drawing/2014/main" id="{8410D40E-6D30-7264-1C91-6EB4A16699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808" y="1815084"/>
                      <a:ext cx="402336" cy="228600"/>
                    </a:xfrm>
                    <a:prstGeom prst="rect">
                      <a:avLst/>
                    </a:prstGeom>
                    <a:solidFill>
                      <a:srgbClr val="E8E8E8">
                        <a:lumMod val="75000"/>
                      </a:srgbClr>
                    </a:solidFill>
                    <a:ln w="19050" cap="flat" cmpd="sng" algn="ctr">
                      <a:solidFill>
                        <a:srgbClr val="E8E8E8">
                          <a:lumMod val="7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231" name="Group 1230">
                    <a:extLst>
                      <a:ext uri="{FF2B5EF4-FFF2-40B4-BE49-F238E27FC236}">
                        <a16:creationId xmlns:a16="http://schemas.microsoft.com/office/drawing/2014/main" id="{AE6E5AA6-C0F7-9871-5D20-F66ADCC3AAB4}"/>
                      </a:ext>
                    </a:extLst>
                  </p:cNvPr>
                  <p:cNvGrpSpPr/>
                  <p:nvPr/>
                </p:nvGrpSpPr>
                <p:grpSpPr>
                  <a:xfrm>
                    <a:off x="2587261" y="739498"/>
                    <a:ext cx="294474" cy="1174647"/>
                    <a:chOff x="749808" y="474891"/>
                    <a:chExt cx="402336" cy="1568793"/>
                  </a:xfrm>
                </p:grpSpPr>
                <p:cxnSp>
                  <p:nvCxnSpPr>
                    <p:cNvPr id="1232" name="Straight Connector 1231">
                      <a:extLst>
                        <a:ext uri="{FF2B5EF4-FFF2-40B4-BE49-F238E27FC236}">
                          <a16:creationId xmlns:a16="http://schemas.microsoft.com/office/drawing/2014/main" id="{D502F795-A034-4B7B-227D-46247C29590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50976" y="474891"/>
                      <a:ext cx="0" cy="1454493"/>
                    </a:xfrm>
                    <a:prstGeom prst="line">
                      <a:avLst/>
                    </a:prstGeom>
                    <a:noFill/>
                    <a:ln w="19050" cap="flat" cmpd="sng" algn="ctr">
                      <a:solidFill>
                        <a:srgbClr val="E8E8E8">
                          <a:lumMod val="50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</p:cxnSp>
                <p:sp>
                  <p:nvSpPr>
                    <p:cNvPr id="1233" name="Rectangle 1232">
                      <a:extLst>
                        <a:ext uri="{FF2B5EF4-FFF2-40B4-BE49-F238E27FC236}">
                          <a16:creationId xmlns:a16="http://schemas.microsoft.com/office/drawing/2014/main" id="{A0472940-5B7A-103F-43E6-4D40AE28E4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808" y="1815084"/>
                      <a:ext cx="402336" cy="228600"/>
                    </a:xfrm>
                    <a:prstGeom prst="rect">
                      <a:avLst/>
                    </a:prstGeom>
                    <a:solidFill>
                      <a:srgbClr val="E8E8E8">
                        <a:lumMod val="75000"/>
                      </a:srgbClr>
                    </a:solidFill>
                    <a:ln w="19050" cap="flat" cmpd="sng" algn="ctr">
                      <a:solidFill>
                        <a:srgbClr val="E8E8E8">
                          <a:lumMod val="7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220" name="Rectangle 1219">
                  <a:extLst>
                    <a:ext uri="{FF2B5EF4-FFF2-40B4-BE49-F238E27FC236}">
                      <a16:creationId xmlns:a16="http://schemas.microsoft.com/office/drawing/2014/main" id="{61B3E38F-217C-C247-1CD3-0AD0C633553A}"/>
                    </a:ext>
                  </a:extLst>
                </p:cNvPr>
                <p:cNvSpPr/>
                <p:nvPr/>
              </p:nvSpPr>
              <p:spPr>
                <a:xfrm>
                  <a:off x="4355625" y="1942983"/>
                  <a:ext cx="3016204" cy="301842"/>
                </a:xfrm>
                <a:prstGeom prst="rect">
                  <a:avLst/>
                </a:prstGeom>
                <a:blipFill dpi="0" rotWithShape="1">
                  <a:blip r:embed="rId24">
                    <a:alphaModFix amt="20000"/>
                  </a:blip>
                  <a:srcRect/>
                  <a:tile tx="0" ty="0" sx="100000" sy="100000" flip="none" algn="tl"/>
                </a:blipFill>
                <a:ln w="19050" cap="flat" cmpd="sng" algn="ctr">
                  <a:solidFill>
                    <a:srgbClr val="E8E8E8">
                      <a:lumMod val="9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21" name="Rectangle 1220">
                  <a:extLst>
                    <a:ext uri="{FF2B5EF4-FFF2-40B4-BE49-F238E27FC236}">
                      <a16:creationId xmlns:a16="http://schemas.microsoft.com/office/drawing/2014/main" id="{18277BFC-D16D-56FC-0C32-03ABAEDB3661}"/>
                    </a:ext>
                  </a:extLst>
                </p:cNvPr>
                <p:cNvSpPr/>
                <p:nvPr/>
              </p:nvSpPr>
              <p:spPr>
                <a:xfrm>
                  <a:off x="4351224" y="1436459"/>
                  <a:ext cx="3022110" cy="45719"/>
                </a:xfrm>
                <a:prstGeom prst="rect">
                  <a:avLst/>
                </a:prstGeom>
                <a:solidFill>
                  <a:srgbClr val="E8E8E8">
                    <a:lumMod val="50000"/>
                  </a:srgbClr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222" name="Group 1221">
                  <a:extLst>
                    <a:ext uri="{FF2B5EF4-FFF2-40B4-BE49-F238E27FC236}">
                      <a16:creationId xmlns:a16="http://schemas.microsoft.com/office/drawing/2014/main" id="{D28828C0-9BFF-F690-2B6D-4C5C1D2AD01F}"/>
                    </a:ext>
                  </a:extLst>
                </p:cNvPr>
                <p:cNvGrpSpPr/>
                <p:nvPr/>
              </p:nvGrpSpPr>
              <p:grpSpPr>
                <a:xfrm>
                  <a:off x="4539531" y="1407980"/>
                  <a:ext cx="2633978" cy="661007"/>
                  <a:chOff x="4539531" y="1407980"/>
                  <a:chExt cx="2633978" cy="661007"/>
                </a:xfrm>
              </p:grpSpPr>
              <p:sp>
                <p:nvSpPr>
                  <p:cNvPr id="1223" name="Rectangle 1222">
                    <a:extLst>
                      <a:ext uri="{FF2B5EF4-FFF2-40B4-BE49-F238E27FC236}">
                        <a16:creationId xmlns:a16="http://schemas.microsoft.com/office/drawing/2014/main" id="{FFC78230-5E09-755A-8198-43265AAA819F}"/>
                      </a:ext>
                    </a:extLst>
                  </p:cNvPr>
                  <p:cNvSpPr/>
                  <p:nvPr/>
                </p:nvSpPr>
                <p:spPr>
                  <a:xfrm>
                    <a:off x="5957009" y="1428172"/>
                    <a:ext cx="493649" cy="640815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24" name="Rectangle 1223">
                    <a:extLst>
                      <a:ext uri="{FF2B5EF4-FFF2-40B4-BE49-F238E27FC236}">
                        <a16:creationId xmlns:a16="http://schemas.microsoft.com/office/drawing/2014/main" id="{AB47F614-CD09-2445-27E2-890E43C7139B}"/>
                      </a:ext>
                    </a:extLst>
                  </p:cNvPr>
                  <p:cNvSpPr/>
                  <p:nvPr/>
                </p:nvSpPr>
                <p:spPr>
                  <a:xfrm>
                    <a:off x="4539531" y="1419051"/>
                    <a:ext cx="493649" cy="640815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25" name="Rectangle 1224">
                    <a:extLst>
                      <a:ext uri="{FF2B5EF4-FFF2-40B4-BE49-F238E27FC236}">
                        <a16:creationId xmlns:a16="http://schemas.microsoft.com/office/drawing/2014/main" id="{2FF3B29B-2644-4D8C-7466-765A24D92049}"/>
                      </a:ext>
                    </a:extLst>
                  </p:cNvPr>
                  <p:cNvSpPr/>
                  <p:nvPr/>
                </p:nvSpPr>
                <p:spPr>
                  <a:xfrm>
                    <a:off x="5259202" y="1407980"/>
                    <a:ext cx="493649" cy="640815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26" name="Rectangle 1225">
                    <a:extLst>
                      <a:ext uri="{FF2B5EF4-FFF2-40B4-BE49-F238E27FC236}">
                        <a16:creationId xmlns:a16="http://schemas.microsoft.com/office/drawing/2014/main" id="{BBEB2581-7AE5-5A7A-78A0-64F8EBCAD979}"/>
                      </a:ext>
                    </a:extLst>
                  </p:cNvPr>
                  <p:cNvSpPr/>
                  <p:nvPr/>
                </p:nvSpPr>
                <p:spPr>
                  <a:xfrm>
                    <a:off x="6679860" y="1419051"/>
                    <a:ext cx="493649" cy="640815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210" name="Group 1209">
                <a:extLst>
                  <a:ext uri="{FF2B5EF4-FFF2-40B4-BE49-F238E27FC236}">
                    <a16:creationId xmlns:a16="http://schemas.microsoft.com/office/drawing/2014/main" id="{EDF728D1-05A8-7AFF-0B5B-1D27D3303657}"/>
                  </a:ext>
                </a:extLst>
              </p:cNvPr>
              <p:cNvGrpSpPr/>
              <p:nvPr/>
            </p:nvGrpSpPr>
            <p:grpSpPr>
              <a:xfrm>
                <a:off x="4171627" y="1319252"/>
                <a:ext cx="3367204" cy="840075"/>
                <a:chOff x="736518" y="1278572"/>
                <a:chExt cx="3367204" cy="840075"/>
              </a:xfrm>
            </p:grpSpPr>
            <p:pic>
              <p:nvPicPr>
                <p:cNvPr id="1213" name="Graphic 1212" descr="Beaker outline">
                  <a:extLst>
                    <a:ext uri="{FF2B5EF4-FFF2-40B4-BE49-F238E27FC236}">
                      <a16:creationId xmlns:a16="http://schemas.microsoft.com/office/drawing/2014/main" id="{6A993199-F636-C144-7AFC-C494E89772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  <a:srcRect t="32136"/>
                <a:stretch>
                  <a:fillRect/>
                </a:stretch>
              </p:blipFill>
              <p:spPr>
                <a:xfrm>
                  <a:off x="736518" y="1282714"/>
                  <a:ext cx="1227509" cy="833036"/>
                </a:xfrm>
                <a:prstGeom prst="rect">
                  <a:avLst/>
                </a:prstGeom>
              </p:spPr>
            </p:pic>
            <p:pic>
              <p:nvPicPr>
                <p:cNvPr id="1214" name="Graphic 1213" descr="Beaker outline">
                  <a:extLst>
                    <a:ext uri="{FF2B5EF4-FFF2-40B4-BE49-F238E27FC236}">
                      <a16:creationId xmlns:a16="http://schemas.microsoft.com/office/drawing/2014/main" id="{4CDC02B5-C5D7-2E04-CCE2-4E6E967B91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  <a:srcRect t="32136"/>
                <a:stretch>
                  <a:fillRect/>
                </a:stretch>
              </p:blipFill>
              <p:spPr>
                <a:xfrm>
                  <a:off x="1446700" y="1278572"/>
                  <a:ext cx="1227509" cy="833036"/>
                </a:xfrm>
                <a:prstGeom prst="rect">
                  <a:avLst/>
                </a:prstGeom>
              </p:spPr>
            </p:pic>
            <p:pic>
              <p:nvPicPr>
                <p:cNvPr id="1215" name="Picture 1214">
                  <a:extLst>
                    <a:ext uri="{FF2B5EF4-FFF2-40B4-BE49-F238E27FC236}">
                      <a16:creationId xmlns:a16="http://schemas.microsoft.com/office/drawing/2014/main" id="{2FA940A1-82A8-BBDF-9805-AC23703EBE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46518" y="1283423"/>
                  <a:ext cx="1225402" cy="835224"/>
                </a:xfrm>
                <a:prstGeom prst="rect">
                  <a:avLst/>
                </a:prstGeom>
              </p:spPr>
            </p:pic>
            <p:pic>
              <p:nvPicPr>
                <p:cNvPr id="1216" name="Picture 1215">
                  <a:extLst>
                    <a:ext uri="{FF2B5EF4-FFF2-40B4-BE49-F238E27FC236}">
                      <a16:creationId xmlns:a16="http://schemas.microsoft.com/office/drawing/2014/main" id="{2BF81345-2E63-8FB8-8712-46833F213C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78320" y="1280818"/>
                  <a:ext cx="1225402" cy="835224"/>
                </a:xfrm>
                <a:prstGeom prst="rect">
                  <a:avLst/>
                </a:prstGeom>
              </p:spPr>
            </p:pic>
          </p:grpSp>
          <p:pic>
            <p:nvPicPr>
              <p:cNvPr id="1211" name="Picture 6" descr="VIdeo record with tripod stand icon. Vector illustration VIdeo record with tripod stand icon. Vector illustration phone tripod stock illustrations">
                <a:extLst>
                  <a:ext uri="{FF2B5EF4-FFF2-40B4-BE49-F238E27FC236}">
                    <a16:creationId xmlns:a16="http://schemas.microsoft.com/office/drawing/2014/main" id="{6A840BF1-A6B3-FBA7-9580-4033E3AD61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517" t="34720" r="53604" b="47377"/>
              <a:stretch>
                <a:fillRect/>
              </a:stretch>
            </p:blipFill>
            <p:spPr bwMode="auto">
              <a:xfrm>
                <a:off x="5503099" y="1580823"/>
                <a:ext cx="675037" cy="3599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12" name="Rectangle 1211">
                <a:extLst>
                  <a:ext uri="{FF2B5EF4-FFF2-40B4-BE49-F238E27FC236}">
                    <a16:creationId xmlns:a16="http://schemas.microsoft.com/office/drawing/2014/main" id="{1F7B4167-0C66-D48A-CDF7-176C6378703E}"/>
                  </a:ext>
                </a:extLst>
              </p:cNvPr>
              <p:cNvSpPr/>
              <p:nvPr/>
            </p:nvSpPr>
            <p:spPr>
              <a:xfrm rot="686211">
                <a:off x="5741601" y="1870795"/>
                <a:ext cx="98987" cy="510294"/>
              </a:xfrm>
              <a:prstGeom prst="rect">
                <a:avLst/>
              </a:prstGeom>
              <a:solidFill>
                <a:sysClr val="windowText" lastClr="000000"/>
              </a:solidFill>
              <a:ln w="19050" cap="flat" cmpd="sng" algn="ctr">
                <a:solidFill>
                  <a:sysClr val="windowText" lastClr="000000">
                    <a:shade val="1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77" name="TextBox 1276">
            <a:extLst>
              <a:ext uri="{FF2B5EF4-FFF2-40B4-BE49-F238E27FC236}">
                <a16:creationId xmlns:a16="http://schemas.microsoft.com/office/drawing/2014/main" id="{5176DBF9-6B1D-1C17-1D09-7A02BBC47D64}"/>
              </a:ext>
            </a:extLst>
          </p:cNvPr>
          <p:cNvSpPr txBox="1"/>
          <p:nvPr/>
        </p:nvSpPr>
        <p:spPr>
          <a:xfrm>
            <a:off x="458695" y="18195552"/>
            <a:ext cx="129297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Jar testing relies on manual observation which introduces variability and limits portability. There is a growing need for automated, on-site testing to improve accuracy and speed in water treatment. Our team is developing a portable, computer vision-based apparatus using machine learning to quantify settling rates, building on a previous prototype while improving mobility and enabling comparison of multiple samples.</a:t>
            </a:r>
            <a:endParaRPr lang="en-US" sz="3600" dirty="0">
              <a:solidFill>
                <a:schemeClr val="tx1"/>
              </a:solidFill>
            </a:endParaRPr>
          </a:p>
        </p:txBody>
      </p:sp>
      <p:cxnSp>
        <p:nvCxnSpPr>
          <p:cNvPr id="1279" name="Straight Connector 1278">
            <a:extLst>
              <a:ext uri="{FF2B5EF4-FFF2-40B4-BE49-F238E27FC236}">
                <a16:creationId xmlns:a16="http://schemas.microsoft.com/office/drawing/2014/main" id="{63EF87DB-FED5-F184-F175-560584ABA3DB}"/>
              </a:ext>
            </a:extLst>
          </p:cNvPr>
          <p:cNvCxnSpPr>
            <a:cxnSpLocks/>
            <a:stCxn id="68" idx="0"/>
            <a:endCxn id="67" idx="2"/>
          </p:cNvCxnSpPr>
          <p:nvPr/>
        </p:nvCxnSpPr>
        <p:spPr>
          <a:xfrm flipV="1">
            <a:off x="2535486" y="24198433"/>
            <a:ext cx="4388088" cy="8893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0" name="Straight Connector 1279">
            <a:extLst>
              <a:ext uri="{FF2B5EF4-FFF2-40B4-BE49-F238E27FC236}">
                <a16:creationId xmlns:a16="http://schemas.microsoft.com/office/drawing/2014/main" id="{28DBA848-1F2B-4144-F78A-4E6D5EF52C67}"/>
              </a:ext>
            </a:extLst>
          </p:cNvPr>
          <p:cNvCxnSpPr>
            <a:cxnSpLocks/>
            <a:stCxn id="69" idx="0"/>
            <a:endCxn id="67" idx="2"/>
          </p:cNvCxnSpPr>
          <p:nvPr/>
        </p:nvCxnSpPr>
        <p:spPr>
          <a:xfrm flipV="1">
            <a:off x="6923574" y="24198433"/>
            <a:ext cx="0" cy="8893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3" name="Straight Connector 1282">
            <a:extLst>
              <a:ext uri="{FF2B5EF4-FFF2-40B4-BE49-F238E27FC236}">
                <a16:creationId xmlns:a16="http://schemas.microsoft.com/office/drawing/2014/main" id="{1C459224-AD65-52D4-60E2-A27C9A54194F}"/>
              </a:ext>
            </a:extLst>
          </p:cNvPr>
          <p:cNvCxnSpPr>
            <a:cxnSpLocks/>
            <a:stCxn id="70" idx="0"/>
            <a:endCxn id="67" idx="2"/>
          </p:cNvCxnSpPr>
          <p:nvPr/>
        </p:nvCxnSpPr>
        <p:spPr>
          <a:xfrm flipH="1" flipV="1">
            <a:off x="6923574" y="24198433"/>
            <a:ext cx="4441910" cy="8893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" name="Picture 17" descr="A blue and white logo&#10;&#10;AI-generated content may be incorrect.">
            <a:extLst>
              <a:ext uri="{FF2B5EF4-FFF2-40B4-BE49-F238E27FC236}">
                <a16:creationId xmlns:a16="http://schemas.microsoft.com/office/drawing/2014/main" id="{A827A1A6-A7A2-EED4-FEDB-177CFA93906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3868828" y="26344674"/>
            <a:ext cx="6276677" cy="20922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2122</TotalTime>
  <Words>884</Words>
  <Application>Microsoft Office PowerPoint</Application>
  <PresentationFormat>Custom</PresentationFormat>
  <Paragraphs>112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Roboto Condensed ExtraBold</vt:lpstr>
      <vt:lpstr>Aptos</vt:lpstr>
      <vt:lpstr>Arial (Body)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slide deck template</dc:title>
  <dc:creator>Bradley Nichols</dc:creator>
  <cp:lastModifiedBy>Aubrey Carey</cp:lastModifiedBy>
  <cp:revision>25</cp:revision>
  <dcterms:modified xsi:type="dcterms:W3CDTF">2025-11-14T22:27:40Z</dcterms:modified>
</cp:coreProperties>
</file>